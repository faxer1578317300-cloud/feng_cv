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60" r:id="rId7"/>
    <p:sldId id="261" r:id="rId11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ableStyles" Target="tableStyles.xml"/><Relationship Id="rId11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Добрый день. Тема шестая — пороговая фильтрация скалярного поля. За четыре минуты объясню, что требуется сделать и каким критерием проверяется результат, а затем покажу обе реализации вживую: сначала CloudCompare, потом код.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Задача состоит из трёх частей. Первое — условие: intensity от сорока до шестидесяти, поле условное, не координаты и не цвет. Второе — две независимые реализации по одному исходному файлу: фильтр в CloudCompare и маска в Python. Третье, самое важное, — доказательство: сравниваем состав ID, а не число точек. Ожидаемый ответ — сто две точки.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Данные синтетические: три группы по сто точек со значениями десять, пятьдесят и девяносто, плюс три одиночные точки — сорок, шестьдесят и шестьдесят один. Всего триста три. Точка шестьдесят один стоит специально рядом с границей: она проверяет, что граница включена именно на шестидесяти. Ожидаемое подмножество — сто две точки.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Дальше показываю вживую. Сначала исходник в CloudCompare, затем Filter by value с границами сорок и шестьдесят. Потом запуск скрипта. И в конце сверка по ID. Критерий, по которому вы можете проверить меня: сто две точки, границы внутри, шестьдесят один снаружи, и ноль расхождений по 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2233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6E9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418320" y="-1371600"/>
            <a:ext cx="4937760" cy="4937760"/>
          </a:xfrm>
          <a:prstGeom prst="ellipse">
            <a:avLst/>
          </a:prstGeom>
          <a:noFill/>
          <a:ln w="15240">
            <a:solidFill>
              <a:srgbClr val="1C445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881360" y="3291840"/>
            <a:ext cx="2834640" cy="2834640"/>
          </a:xfrm>
          <a:prstGeom prst="ellipse">
            <a:avLst/>
          </a:prstGeom>
          <a:noFill/>
          <a:ln w="15240">
            <a:solidFill>
              <a:srgbClr val="1C445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371600"/>
            <a:ext cx="8778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6FB3CF"/>
                </a:solidFill>
                <a:latin typeface="Arial" panose="020B0604020202090204"/>
              </a:rPr>
              <a:t>РЕФЕРАТ · ТЕМА 6 · CLOUDCOMPARE + PYTHON</a:t>
            </a:r>
            <a:endParaRPr sz="1150" b="1">
              <a:solidFill>
                <a:srgbClr val="6FB3CF"/>
              </a:solidFill>
              <a:latin typeface="Arial" panose="020B060402020209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51560" y="1810512"/>
            <a:ext cx="969264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98000"/>
              </a:lnSpc>
            </a:pPr>
            <a:r>
              <a:rPr sz="4600" b="1">
                <a:solidFill>
                  <a:srgbClr val="FFFFFF"/>
                </a:solidFill>
                <a:latin typeface="Arial" panose="020B0604020202090204"/>
              </a:rPr>
              <a:t>Пороговая фильтрация
скалярного поля</a:t>
            </a:r>
            <a:endParaRPr sz="4600" b="1">
              <a:solidFill>
                <a:srgbClr val="FFFFFF"/>
              </a:solidFill>
              <a:latin typeface="Arial" panose="020B060402020209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51560" y="3328416"/>
            <a:ext cx="8595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2400" b="0">
                <a:solidFill>
                  <a:srgbClr val="8FC4DA"/>
                </a:solidFill>
                <a:latin typeface="Arial" panose="020B0604020202090204"/>
              </a:rPr>
              <a:t>с проверкой границ интервала</a:t>
            </a:r>
            <a:endParaRPr sz="2400" b="0">
              <a:solidFill>
                <a:srgbClr val="8FC4DA"/>
              </a:solidFill>
              <a:latin typeface="Arial" panose="020B0604020202090204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078992" y="3968496"/>
            <a:ext cx="1005840" cy="27432"/>
          </a:xfrm>
          <a:prstGeom prst="rect">
            <a:avLst/>
          </a:prstGeom>
          <a:solidFill>
            <a:srgbClr val="6FB3C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4187952"/>
            <a:ext cx="8229600" cy="579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450" b="0">
                <a:solidFill>
                  <a:srgbClr val="C3D5DF"/>
                </a:solidFill>
                <a:latin typeface="Arial" panose="020B0604020202090204"/>
              </a:rPr>
              <a:t>1. </a:t>
            </a:r>
            <a:r>
              <a:rPr sz="1450" b="0">
                <a:solidFill>
                  <a:srgbClr val="C3D5DF"/>
                </a:solidFill>
                <a:latin typeface="Arial" panose="020B0604020202090204"/>
              </a:rPr>
              <a:t>Постановка, данные и метод </a:t>
            </a:r>
            <a:endParaRPr sz="1450" b="0">
              <a:solidFill>
                <a:srgbClr val="C3D5DF"/>
              </a:solidFill>
              <a:latin typeface="Arial" panose="020B0604020202090204"/>
            </a:endParaRPr>
          </a:p>
          <a:p>
            <a:pPr>
              <a:lnSpc>
                <a:spcPct val="130000"/>
              </a:lnSpc>
            </a:pPr>
            <a:r>
              <a:rPr lang="en-US" sz="1450" b="0">
                <a:solidFill>
                  <a:srgbClr val="C3D5DF"/>
                </a:solidFill>
                <a:latin typeface="Arial" panose="020B0604020202090204"/>
              </a:rPr>
              <a:t>2. </a:t>
            </a:r>
            <a:r>
              <a:rPr sz="1450" b="0">
                <a:solidFill>
                  <a:srgbClr val="C3D5DF"/>
                </a:solidFill>
                <a:latin typeface="Arial" panose="020B0604020202090204"/>
              </a:rPr>
              <a:t>Работа в CloudCompare и Python — отдельно, вживую.</a:t>
            </a:r>
            <a:endParaRPr sz="1450" b="0">
              <a:solidFill>
                <a:srgbClr val="C3D5DF"/>
              </a:solidFill>
              <a:latin typeface="Arial" panose="020B060402020209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1051560" y="5376672"/>
            <a:ext cx="1691640" cy="329184"/>
          </a:xfrm>
          <a:prstGeom prst="roundRect">
            <a:avLst>
              <a:gd name="adj" fmla="val 50000"/>
            </a:avLst>
          </a:prstGeom>
          <a:solidFill>
            <a:srgbClr val="163347"/>
          </a:solidFill>
          <a:ln>
            <a:noFill/>
          </a:ln>
          <a:effectLst/>
        </p:spPr>
        <p:txBody>
          <a:bodyPr wrap="square" lIns="0" rIns="0" rtlCol="0" anchor="ctr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9FC9DB"/>
                </a:solidFill>
                <a:latin typeface="Arial" panose="020B0604020202090204"/>
              </a:rPr>
              <a:t>303 → 102 точки</a:t>
            </a:r>
            <a:endParaRPr sz="1100" b="1">
              <a:solidFill>
                <a:srgbClr val="9FC9DB"/>
              </a:solidFill>
              <a:latin typeface="Arial" panose="020B060402020209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926080" y="5376672"/>
            <a:ext cx="2240280" cy="329184"/>
          </a:xfrm>
          <a:prstGeom prst="roundRect">
            <a:avLst>
              <a:gd name="adj" fmla="val 50000"/>
            </a:avLst>
          </a:prstGeom>
          <a:solidFill>
            <a:srgbClr val="163347"/>
          </a:solidFill>
          <a:ln>
            <a:noFill/>
          </a:ln>
          <a:effectLst/>
        </p:spPr>
        <p:txBody>
          <a:bodyPr wrap="square" lIns="0" rIns="0" rtlCol="0" anchor="ctr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9FC9DB"/>
                </a:solidFill>
                <a:latin typeface="Arial" panose="020B0604020202090204"/>
              </a:rPr>
              <a:t>40 ≤ intensity ≤ 60</a:t>
            </a:r>
            <a:endParaRPr sz="1100" b="1">
              <a:solidFill>
                <a:srgbClr val="9FC9DB"/>
              </a:solidFill>
              <a:latin typeface="Arial" panose="020B0604020202090204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349240" y="5376672"/>
            <a:ext cx="1920240" cy="329184"/>
          </a:xfrm>
          <a:prstGeom prst="roundRect">
            <a:avLst>
              <a:gd name="adj" fmla="val 50000"/>
            </a:avLst>
          </a:prstGeom>
          <a:solidFill>
            <a:srgbClr val="163347"/>
          </a:solidFill>
          <a:ln>
            <a:noFill/>
          </a:ln>
          <a:effectLst/>
        </p:spPr>
        <p:txBody>
          <a:bodyPr wrap="square" lIns="0" rIns="0" rtlCol="0" anchor="ctr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9FC9DB"/>
                </a:solidFill>
                <a:latin typeface="Arial" panose="020B0604020202090204"/>
              </a:rPr>
              <a:t>0 различий по ID</a:t>
            </a:r>
            <a:endParaRPr sz="1100" b="1">
              <a:solidFill>
                <a:srgbClr val="9FC9DB"/>
              </a:solidFill>
              <a:latin typeface="Arial" panose="020B060402020209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402336"/>
            <a:ext cx="10765231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6E99"/>
                </a:solidFill>
                <a:latin typeface="Arial" panose="020B0604020202090204"/>
              </a:rPr>
              <a:t>ПОСТАНОВКА</a:t>
            </a:r>
            <a:endParaRPr sz="1100" b="1">
              <a:solidFill>
                <a:srgbClr val="0B6E99"/>
              </a:solidFill>
              <a:latin typeface="Arial" panose="020B060402020209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13232" y="658368"/>
            <a:ext cx="10765231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900" b="1">
                <a:solidFill>
                  <a:srgbClr val="102233"/>
                </a:solidFill>
                <a:latin typeface="Arial" panose="020B0604020202090204"/>
              </a:rPr>
              <a:t>Что нужно сделать</a:t>
            </a:r>
            <a:endParaRPr sz="2900" b="1">
              <a:solidFill>
                <a:srgbClr val="102233"/>
              </a:solidFill>
              <a:latin typeface="Arial" panose="020B060402020209020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13232" y="1371600"/>
            <a:ext cx="10765231" cy="10972"/>
          </a:xfrm>
          <a:prstGeom prst="rect">
            <a:avLst/>
          </a:prstGeom>
          <a:solidFill>
            <a:srgbClr val="E1E7ED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13232" y="1366113"/>
            <a:ext cx="822960" cy="22860"/>
          </a:xfrm>
          <a:prstGeom prst="rect">
            <a:avLst/>
          </a:prstGeom>
          <a:solidFill>
            <a:srgbClr val="0B6E9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627632"/>
            <a:ext cx="102412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102233"/>
                </a:solidFill>
                <a:latin typeface="Arial" panose="020B0604020202090204"/>
              </a:rPr>
              <a:t>Отобрать подмножество точек по числовому условию — двумя независимыми способами и доказать, что результат один и тот же.</a:t>
            </a:r>
            <a:endParaRPr sz="1600" b="0">
              <a:solidFill>
                <a:srgbClr val="102233"/>
              </a:solidFill>
              <a:latin typeface="Arial" panose="020B0604020202090204"/>
            </a:endParaRPr>
          </a:p>
        </p:txBody>
      </p:sp>
      <p:sp>
        <p:nvSpPr>
          <p:cNvPr id="7" name="Oval 6"/>
          <p:cNvSpPr/>
          <p:nvPr/>
        </p:nvSpPr>
        <p:spPr>
          <a:xfrm>
            <a:off x="713232" y="2414016"/>
            <a:ext cx="365760" cy="365760"/>
          </a:xfrm>
          <a:prstGeom prst="ellipse">
            <a:avLst/>
          </a:prstGeom>
          <a:solidFill>
            <a:srgbClr val="0B6E99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Arial" panose="020B0604020202090204"/>
              </a:rPr>
              <a:t>1</a:t>
            </a:r>
            <a:endParaRPr sz="1200" b="1">
              <a:solidFill>
                <a:srgbClr val="FFFFFF"/>
              </a:solidFill>
              <a:latin typeface="Arial" panose="020B060402020209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280160" y="2359152"/>
            <a:ext cx="99669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02233"/>
                </a:solidFill>
                <a:latin typeface="Arial" panose="020B0604020202090204"/>
              </a:rPr>
              <a:t>Условие отбора</a:t>
            </a:r>
            <a:endParaRPr sz="1450" b="1">
              <a:solidFill>
                <a:srgbClr val="102233"/>
              </a:solidFill>
              <a:latin typeface="Arial" panose="020B0604020202090204"/>
            </a:endParaRP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250" b="0">
                <a:solidFill>
                  <a:srgbClr val="374555"/>
                </a:solidFill>
                <a:latin typeface="Arial" panose="020B0604020202090204"/>
              </a:rPr>
              <a:t>40 ≤ intensity ≤ 60, условные единицы. Отбор идёт по скалярному полю, а не по координатам и не по цвету.</a:t>
            </a:r>
            <a:endParaRPr sz="1250" b="0">
              <a:solidFill>
                <a:srgbClr val="374555"/>
              </a:solidFill>
              <a:latin typeface="Arial" panose="020B0604020202090204"/>
            </a:endParaRPr>
          </a:p>
        </p:txBody>
      </p:sp>
      <p:sp>
        <p:nvSpPr>
          <p:cNvPr id="9" name="Oval 8"/>
          <p:cNvSpPr/>
          <p:nvPr/>
        </p:nvSpPr>
        <p:spPr>
          <a:xfrm>
            <a:off x="713232" y="3438144"/>
            <a:ext cx="365760" cy="365760"/>
          </a:xfrm>
          <a:prstGeom prst="ellipse">
            <a:avLst/>
          </a:prstGeom>
          <a:solidFill>
            <a:srgbClr val="0B6E99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Arial" panose="020B0604020202090204"/>
              </a:rPr>
              <a:t>2</a:t>
            </a:r>
            <a:endParaRPr sz="1200" b="1">
              <a:solidFill>
                <a:srgbClr val="FFFFFF"/>
              </a:solidFill>
              <a:latin typeface="Arial" panose="020B060402020209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280160" y="3383280"/>
            <a:ext cx="99669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02233"/>
                </a:solidFill>
                <a:latin typeface="Arial" panose="020B0604020202090204"/>
              </a:rPr>
              <a:t>Две реализации, один исходник</a:t>
            </a:r>
            <a:endParaRPr sz="1450" b="1">
              <a:solidFill>
                <a:srgbClr val="102233"/>
              </a:solidFill>
              <a:latin typeface="Arial" panose="020B0604020202090204"/>
            </a:endParaRP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250" b="0">
                <a:solidFill>
                  <a:srgbClr val="374555"/>
                </a:solidFill>
                <a:latin typeface="Arial" panose="020B0604020202090204"/>
              </a:rPr>
              <a:t>CloudCompare: Edit → Scalar fields → Filter by value. Python: булева маска NumPy. Результат одной среды не подаётся на вход другой.</a:t>
            </a:r>
            <a:endParaRPr sz="1250" b="0">
              <a:solidFill>
                <a:srgbClr val="374555"/>
              </a:solidFill>
              <a:latin typeface="Arial" panose="020B0604020202090204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713232" y="4462272"/>
            <a:ext cx="365760" cy="365760"/>
          </a:xfrm>
          <a:prstGeom prst="ellipse">
            <a:avLst/>
          </a:prstGeom>
          <a:solidFill>
            <a:srgbClr val="0B6E99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Arial" panose="020B0604020202090204"/>
              </a:rPr>
              <a:t>3</a:t>
            </a:r>
            <a:endParaRPr sz="1200" b="1">
              <a:solidFill>
                <a:srgbClr val="FFFFFF"/>
              </a:solidFill>
              <a:latin typeface="Arial" panose="020B060402020209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280160" y="4407408"/>
            <a:ext cx="99669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02233"/>
                </a:solidFill>
                <a:latin typeface="Arial" panose="020B0604020202090204"/>
              </a:rPr>
              <a:t>Доказательство</a:t>
            </a:r>
            <a:endParaRPr sz="1450" b="1">
              <a:solidFill>
                <a:srgbClr val="102233"/>
              </a:solidFill>
              <a:latin typeface="Arial" panose="020B0604020202090204"/>
            </a:endParaRP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250" b="0">
                <a:solidFill>
                  <a:srgbClr val="374555"/>
                </a:solidFill>
                <a:latin typeface="Arial" panose="020B0604020202090204"/>
              </a:rPr>
              <a:t>Совпадение по составу ID: 102 точки, границы 40 и 60 внутри, 61 снаружи. Одинакового числа точек для доказательства недостаточно.</a:t>
            </a:r>
            <a:endParaRPr sz="1250" b="0">
              <a:solidFill>
                <a:srgbClr val="374555"/>
              </a:solidFill>
              <a:latin typeface="Arial" panose="020B0604020202090204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713232" y="5541264"/>
            <a:ext cx="10762488" cy="658368"/>
          </a:xfrm>
          <a:prstGeom prst="roundRect">
            <a:avLst>
              <a:gd name="adj" fmla="val 3000"/>
            </a:avLst>
          </a:prstGeom>
          <a:solidFill>
            <a:srgbClr val="E6F1F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9264" y="5632704"/>
            <a:ext cx="102412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200" b="1">
                <a:solidFill>
                  <a:srgbClr val="0B6E99"/>
                </a:solidFill>
                <a:latin typeface="Arial" panose="020B0604020202090204"/>
              </a:rPr>
              <a:t>Учебная цель: </a:t>
            </a:r>
            <a:r>
              <a:rPr sz="1200">
                <a:solidFill>
                  <a:srgbClr val="374555"/>
                </a:solidFill>
                <a:latin typeface="Arial" panose="020B0604020202090204"/>
              </a:rPr>
              <a:t>получить одинаковое подмножество по числовому условию и проверить его </a:t>
            </a:r>
            <a:r>
              <a:rPr sz="1200" b="1">
                <a:solidFill>
                  <a:srgbClr val="102233"/>
                </a:solidFill>
                <a:latin typeface="Arial" panose="020B0604020202090204"/>
              </a:rPr>
              <a:t>по ID</a:t>
            </a:r>
            <a:r>
              <a:rPr sz="1200">
                <a:solidFill>
                  <a:srgbClr val="374555"/>
                </a:solidFill>
                <a:latin typeface="Arial" panose="020B0604020202090204"/>
              </a:rPr>
              <a:t>, а не по количеству точек.</a:t>
            </a:r>
            <a:endParaRPr sz="1200">
              <a:solidFill>
                <a:srgbClr val="374555"/>
              </a:solidFill>
              <a:latin typeface="Arial" panose="020B0604020202090204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13232" y="6364224"/>
            <a:ext cx="10765231" cy="10972"/>
          </a:xfrm>
          <a:prstGeom prst="rect">
            <a:avLst/>
          </a:prstGeom>
          <a:solidFill>
            <a:srgbClr val="E1E7ED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6455664"/>
            <a:ext cx="975939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7B8796"/>
                </a:solidFill>
                <a:latin typeface="Arial" panose="020B0604020202090204"/>
              </a:rPr>
              <a:t>Задание 6 · Пороговая фильтрация скалярного поля</a:t>
            </a:r>
            <a:endParaRPr sz="900" b="0">
              <a:solidFill>
                <a:srgbClr val="7B8796"/>
              </a:solidFill>
              <a:latin typeface="Arial" panose="020B060402020209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564063" y="6455664"/>
            <a:ext cx="914400" cy="1384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7B8796"/>
                </a:solidFill>
                <a:latin typeface="Arial" panose="020B0604020202090204"/>
              </a:rPr>
              <a:t>02 / 0</a:t>
            </a:r>
            <a:r>
              <a:rPr lang="en-US" sz="900" b="0">
                <a:solidFill>
                  <a:srgbClr val="7B8796"/>
                </a:solidFill>
                <a:latin typeface="Arial" panose="020B0604020202090204"/>
              </a:rPr>
              <a:t>4</a:t>
            </a:r>
            <a:endParaRPr lang="en-US" sz="900" b="0">
              <a:solidFill>
                <a:srgbClr val="7B8796"/>
              </a:solidFill>
              <a:latin typeface="Arial" panose="020B060402020209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402336"/>
            <a:ext cx="10765231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6E99"/>
                </a:solidFill>
                <a:latin typeface="Arial" panose="020B0604020202090204"/>
              </a:rPr>
              <a:t>ИСХОДНЫЕ ДАННЫЕ</a:t>
            </a:r>
            <a:endParaRPr sz="1100" b="1">
              <a:solidFill>
                <a:srgbClr val="0B6E99"/>
              </a:solidFill>
              <a:latin typeface="Arial" panose="020B060402020209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13232" y="658368"/>
            <a:ext cx="10765231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900" b="1">
                <a:solidFill>
                  <a:srgbClr val="102233"/>
                </a:solidFill>
                <a:latin typeface="Arial" panose="020B0604020202090204"/>
              </a:rPr>
              <a:t>303 точки: три группы и три одиночные точки</a:t>
            </a:r>
            <a:endParaRPr sz="2900" b="1">
              <a:solidFill>
                <a:srgbClr val="102233"/>
              </a:solidFill>
              <a:latin typeface="Arial" panose="020B060402020209020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13232" y="1371600"/>
            <a:ext cx="10765231" cy="10972"/>
          </a:xfrm>
          <a:prstGeom prst="rect">
            <a:avLst/>
          </a:prstGeom>
          <a:solidFill>
            <a:srgbClr val="E1E7ED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13232" y="1366113"/>
            <a:ext cx="822960" cy="22860"/>
          </a:xfrm>
          <a:prstGeom prst="rect">
            <a:avLst/>
          </a:prstGeom>
          <a:solidFill>
            <a:srgbClr val="0B6E9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6" name="Picture 5" descr="img_value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737360"/>
            <a:ext cx="5989320" cy="20650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13232" y="3857243"/>
            <a:ext cx="59893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7B8796"/>
                </a:solidFill>
                <a:latin typeface="Arial" panose="020B0604020202090204"/>
              </a:rPr>
              <a:t>Распределение поля: цветом — попавшие в интервал, серым — отброшенные</a:t>
            </a:r>
            <a:endParaRPr sz="950" b="0">
              <a:solidFill>
                <a:srgbClr val="7B8796"/>
              </a:solidFill>
              <a:latin typeface="Arial" panose="020B060402020209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13232" y="4186428"/>
            <a:ext cx="598932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0185" indent="-210185">
              <a:lnSpc>
                <a:spcPct val="105000"/>
              </a:lnSpc>
              <a:buClr>
                <a:srgbClr val="0B6E99"/>
              </a:buClr>
              <a:buFont typeface="Arial" panose="020B0604020202090204"/>
              <a:buChar char="•"/>
            </a:pPr>
            <a:r>
              <a:rPr sz="1150" b="1">
                <a:solidFill>
                  <a:srgbClr val="102233"/>
                </a:solidFill>
                <a:latin typeface="Arial" panose="020B0604020202090204"/>
              </a:rPr>
              <a:t>ASCII:</a:t>
            </a:r>
            <a:r>
              <a:rPr sz="1150" b="0">
                <a:solidFill>
                  <a:srgbClr val="374555"/>
                </a:solidFill>
                <a:latin typeface="Arial" panose="020B0604020202090204"/>
              </a:rPr>
              <a:t> столбцы X Y Z ID intensity; XYZ в метрах, поле — в условных единицах.</a:t>
            </a:r>
            <a:endParaRPr sz="1150" b="0">
              <a:solidFill>
                <a:srgbClr val="374555"/>
              </a:solidFill>
              <a:latin typeface="Arial" panose="020B0604020202090204"/>
            </a:endParaRPr>
          </a:p>
          <a:p>
            <a:pPr marL="210185" indent="-210185">
              <a:lnSpc>
                <a:spcPct val="105000"/>
              </a:lnSpc>
              <a:spcBef>
                <a:spcPts val="700"/>
              </a:spcBef>
              <a:buClr>
                <a:srgbClr val="0B6E99"/>
              </a:buClr>
              <a:buFont typeface="Arial" panose="020B0604020202090204"/>
              <a:buChar char="•"/>
            </a:pPr>
            <a:r>
              <a:rPr sz="1150" b="1">
                <a:solidFill>
                  <a:srgbClr val="102233"/>
                </a:solidFill>
                <a:latin typeface="Arial" panose="020B0604020202090204"/>
              </a:rPr>
              <a:t>ID</a:t>
            </a:r>
            <a:r>
              <a:rPr sz="1150" b="0">
                <a:solidFill>
                  <a:srgbClr val="374555"/>
                </a:solidFill>
                <a:latin typeface="Arial" panose="020B0604020202090204"/>
              </a:rPr>
              <a:t> — уникальные целые 1…303, сохраняются при экспорте.</a:t>
            </a:r>
            <a:endParaRPr sz="1150" b="0">
              <a:solidFill>
                <a:srgbClr val="374555"/>
              </a:solidFill>
              <a:latin typeface="Arial" panose="020B0604020202090204"/>
            </a:endParaRPr>
          </a:p>
          <a:p>
            <a:pPr marL="210185" indent="-210185">
              <a:lnSpc>
                <a:spcPct val="105000"/>
              </a:lnSpc>
              <a:spcBef>
                <a:spcPts val="700"/>
              </a:spcBef>
              <a:buClr>
                <a:srgbClr val="0B6E99"/>
              </a:buClr>
              <a:buFont typeface="Arial" panose="020B0604020202090204"/>
              <a:buChar char="•"/>
            </a:pPr>
            <a:r>
              <a:rPr sz="1150" b="1">
                <a:solidFill>
                  <a:srgbClr val="102233"/>
                </a:solidFill>
                <a:latin typeface="Arial" panose="020B0604020202090204"/>
              </a:rPr>
              <a:t>RGB не нужен:</a:t>
            </a:r>
            <a:r>
              <a:rPr sz="1150" b="0">
                <a:solidFill>
                  <a:srgbClr val="374555"/>
                </a:solidFill>
                <a:latin typeface="Arial" panose="020B0604020202090204"/>
              </a:rPr>
              <a:t> задача только про числовое поле.</a:t>
            </a:r>
            <a:endParaRPr sz="1150" b="0">
              <a:solidFill>
                <a:srgbClr val="374555"/>
              </a:solidFill>
              <a:latin typeface="Arial" panose="020B0604020202090204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114032" y="1737360"/>
          <a:ext cx="4343399" cy="278434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431890"/>
                <a:gridCol w="1050052"/>
                <a:gridCol w="1861457"/>
              </a:tblGrid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Arial" panose="020B0604020202090204"/>
                        </a:rPr>
                        <a:t>intensity</a:t>
                      </a:r>
                      <a:endParaRPr sz="1150" b="1">
                        <a:solidFill>
                          <a:srgbClr val="FFFFFF"/>
                        </a:solidFill>
                        <a:latin typeface="Arial" panose="020B0604020202090204"/>
                      </a:endParaRPr>
                    </a:p>
                  </a:txBody>
                  <a:tcPr marR="54864" marT="18288" marB="18288" anchor="ctr">
                    <a:solidFill>
                      <a:srgbClr val="10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Arial" panose="020B0604020202090204"/>
                        </a:rPr>
                        <a:t>Точек</a:t>
                      </a:r>
                      <a:endParaRPr sz="1150" b="1">
                        <a:solidFill>
                          <a:srgbClr val="FFFFFF"/>
                        </a:solidFill>
                        <a:latin typeface="Arial" panose="020B0604020202090204"/>
                      </a:endParaRPr>
                    </a:p>
                  </a:txBody>
                  <a:tcPr marR="54864" marT="18288" marB="18288" anchor="ctr">
                    <a:solidFill>
                      <a:srgbClr val="10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Arial" panose="020B0604020202090204"/>
                        </a:rPr>
                        <a:t>В выборке</a:t>
                      </a:r>
                      <a:endParaRPr sz="1150" b="1">
                        <a:solidFill>
                          <a:srgbClr val="FFFFFF"/>
                        </a:solidFill>
                        <a:latin typeface="Arial" panose="020B0604020202090204"/>
                      </a:endParaRPr>
                    </a:p>
                  </a:txBody>
                  <a:tcPr marR="54864" marT="18288" marB="18288" anchor="ctr">
                    <a:solidFill>
                      <a:srgbClr val="102233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150" b="0">
                          <a:solidFill>
                            <a:srgbClr val="374555"/>
                          </a:solidFill>
                          <a:latin typeface="Arial" panose="020B0604020202090204"/>
                        </a:rPr>
                        <a:t>10</a:t>
                      </a:r>
                      <a:endParaRPr sz="1150" b="0">
                        <a:solidFill>
                          <a:srgbClr val="374555"/>
                        </a:solidFill>
                        <a:latin typeface="Arial" panose="020B0604020202090204"/>
                      </a:endParaRPr>
                    </a:p>
                  </a:txBody>
                  <a:tcPr marR="54864" marT="18288" marB="18288" anchor="ctr">
                    <a:lnB w="12700" cap="flat" cmpd="sng" algn="ctr">
                      <a:solidFill>
                        <a:srgbClr val="E1E7ED"/>
                      </a:solidFill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150" b="0">
                          <a:solidFill>
                            <a:srgbClr val="374555"/>
                          </a:solidFill>
                          <a:latin typeface="Arial" panose="020B0604020202090204"/>
                        </a:rPr>
                        <a:t>100</a:t>
                      </a:r>
                      <a:endParaRPr sz="1150" b="0">
                        <a:solidFill>
                          <a:srgbClr val="374555"/>
                        </a:solidFill>
                        <a:latin typeface="Arial" panose="020B0604020202090204"/>
                      </a:endParaRPr>
                    </a:p>
                  </a:txBody>
                  <a:tcPr marR="54864" marT="18288" marB="18288" anchor="ctr">
                    <a:lnB w="12700" cap="flat" cmpd="sng" algn="ctr">
                      <a:solidFill>
                        <a:srgbClr val="E1E7ED"/>
                      </a:solidFill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150" b="0">
                          <a:solidFill>
                            <a:srgbClr val="374555"/>
                          </a:solidFill>
                          <a:latin typeface="Arial" panose="020B0604020202090204"/>
                        </a:rPr>
                        <a:t>нет</a:t>
                      </a:r>
                      <a:endParaRPr sz="1150" b="0">
                        <a:solidFill>
                          <a:srgbClr val="374555"/>
                        </a:solidFill>
                        <a:latin typeface="Arial" panose="020B0604020202090204"/>
                      </a:endParaRPr>
                    </a:p>
                  </a:txBody>
                  <a:tcPr marR="54864" marT="18288" marB="18288" anchor="ctr">
                    <a:lnB w="12700" cap="flat" cmpd="sng" algn="ctr">
                      <a:solidFill>
                        <a:srgbClr val="E1E7ED"/>
                      </a:solidFill>
                    </a:lnB>
                    <a:solidFill>
                      <a:srgbClr val="FCFDFD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150" b="0">
                          <a:solidFill>
                            <a:srgbClr val="374555"/>
                          </a:solidFill>
                          <a:latin typeface="Arial" panose="020B0604020202090204"/>
                        </a:rPr>
                        <a:t>40</a:t>
                      </a:r>
                      <a:endParaRPr sz="1150" b="0">
                        <a:solidFill>
                          <a:srgbClr val="374555"/>
                        </a:solidFill>
                        <a:latin typeface="Arial" panose="020B0604020202090204"/>
                      </a:endParaRPr>
                    </a:p>
                  </a:txBody>
                  <a:tcPr marR="54864" marT="18288" marB="18288" anchor="ctr">
                    <a:lnB w="12700" cap="flat" cmpd="sng" algn="ctr">
                      <a:solidFill>
                        <a:srgbClr val="E1E7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150" b="0">
                          <a:solidFill>
                            <a:srgbClr val="374555"/>
                          </a:solidFill>
                          <a:latin typeface="Arial" panose="020B0604020202090204"/>
                        </a:rPr>
                        <a:t>1</a:t>
                      </a:r>
                      <a:endParaRPr sz="1150" b="0">
                        <a:solidFill>
                          <a:srgbClr val="374555"/>
                        </a:solidFill>
                        <a:latin typeface="Arial" panose="020B0604020202090204"/>
                      </a:endParaRPr>
                    </a:p>
                  </a:txBody>
                  <a:tcPr marR="54864" marT="18288" marB="18288" anchor="ctr">
                    <a:lnB w="12700" cap="flat" cmpd="sng" algn="ctr">
                      <a:solidFill>
                        <a:srgbClr val="E1E7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150" b="0">
                          <a:solidFill>
                            <a:srgbClr val="374555"/>
                          </a:solidFill>
                          <a:latin typeface="Arial" panose="020B0604020202090204"/>
                        </a:rPr>
                        <a:t>да — граница</a:t>
                      </a:r>
                      <a:endParaRPr sz="1150" b="0">
                        <a:solidFill>
                          <a:srgbClr val="374555"/>
                        </a:solidFill>
                        <a:latin typeface="Arial" panose="020B0604020202090204"/>
                      </a:endParaRPr>
                    </a:p>
                  </a:txBody>
                  <a:tcPr marR="54864" marT="18288" marB="18288" anchor="ctr">
                    <a:lnB w="12700" cap="flat" cmpd="sng" algn="ctr">
                      <a:solidFill>
                        <a:srgbClr val="E1E7E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150" b="0">
                          <a:solidFill>
                            <a:srgbClr val="374555"/>
                          </a:solidFill>
                          <a:latin typeface="Arial" panose="020B0604020202090204"/>
                        </a:rPr>
                        <a:t>50</a:t>
                      </a:r>
                      <a:endParaRPr sz="1150" b="0">
                        <a:solidFill>
                          <a:srgbClr val="374555"/>
                        </a:solidFill>
                        <a:latin typeface="Arial" panose="020B0604020202090204"/>
                      </a:endParaRPr>
                    </a:p>
                  </a:txBody>
                  <a:tcPr marR="54864" marT="18288" marB="18288" anchor="ctr">
                    <a:lnB w="12700" cap="flat" cmpd="sng" algn="ctr">
                      <a:solidFill>
                        <a:srgbClr val="E1E7ED"/>
                      </a:solidFill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150" b="0">
                          <a:solidFill>
                            <a:srgbClr val="374555"/>
                          </a:solidFill>
                          <a:latin typeface="Arial" panose="020B0604020202090204"/>
                        </a:rPr>
                        <a:t>100</a:t>
                      </a:r>
                      <a:endParaRPr sz="1150" b="0">
                        <a:solidFill>
                          <a:srgbClr val="374555"/>
                        </a:solidFill>
                        <a:latin typeface="Arial" panose="020B0604020202090204"/>
                      </a:endParaRPr>
                    </a:p>
                  </a:txBody>
                  <a:tcPr marR="54864" marT="18288" marB="18288" anchor="ctr">
                    <a:lnB w="12700" cap="flat" cmpd="sng" algn="ctr">
                      <a:solidFill>
                        <a:srgbClr val="E1E7ED"/>
                      </a:solidFill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150" b="0">
                          <a:solidFill>
                            <a:srgbClr val="374555"/>
                          </a:solidFill>
                          <a:latin typeface="Arial" panose="020B0604020202090204"/>
                        </a:rPr>
                        <a:t>да</a:t>
                      </a:r>
                      <a:endParaRPr sz="1150" b="0">
                        <a:solidFill>
                          <a:srgbClr val="374555"/>
                        </a:solidFill>
                        <a:latin typeface="Arial" panose="020B0604020202090204"/>
                      </a:endParaRPr>
                    </a:p>
                  </a:txBody>
                  <a:tcPr marR="54864" marT="18288" marB="18288" anchor="ctr">
                    <a:lnB w="12700" cap="flat" cmpd="sng" algn="ctr">
                      <a:solidFill>
                        <a:srgbClr val="E1E7ED"/>
                      </a:solidFill>
                    </a:lnB>
                    <a:solidFill>
                      <a:srgbClr val="FCFDFD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150" b="0">
                          <a:solidFill>
                            <a:srgbClr val="374555"/>
                          </a:solidFill>
                          <a:latin typeface="Arial" panose="020B0604020202090204"/>
                        </a:rPr>
                        <a:t>60</a:t>
                      </a:r>
                      <a:endParaRPr sz="1150" b="0">
                        <a:solidFill>
                          <a:srgbClr val="374555"/>
                        </a:solidFill>
                        <a:latin typeface="Arial" panose="020B0604020202090204"/>
                      </a:endParaRPr>
                    </a:p>
                  </a:txBody>
                  <a:tcPr marR="54864" marT="18288" marB="18288" anchor="ctr">
                    <a:lnB w="12700" cap="flat" cmpd="sng" algn="ctr">
                      <a:solidFill>
                        <a:srgbClr val="E1E7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150" b="0">
                          <a:solidFill>
                            <a:srgbClr val="374555"/>
                          </a:solidFill>
                          <a:latin typeface="Arial" panose="020B0604020202090204"/>
                        </a:rPr>
                        <a:t>1</a:t>
                      </a:r>
                      <a:endParaRPr sz="1150" b="0">
                        <a:solidFill>
                          <a:srgbClr val="374555"/>
                        </a:solidFill>
                        <a:latin typeface="Arial" panose="020B0604020202090204"/>
                      </a:endParaRPr>
                    </a:p>
                  </a:txBody>
                  <a:tcPr marR="54864" marT="18288" marB="18288" anchor="ctr">
                    <a:lnB w="12700" cap="flat" cmpd="sng" algn="ctr">
                      <a:solidFill>
                        <a:srgbClr val="E1E7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150" b="0">
                          <a:solidFill>
                            <a:srgbClr val="374555"/>
                          </a:solidFill>
                          <a:latin typeface="Arial" panose="020B0604020202090204"/>
                        </a:rPr>
                        <a:t>да — граница</a:t>
                      </a:r>
                      <a:endParaRPr sz="1150" b="0">
                        <a:solidFill>
                          <a:srgbClr val="374555"/>
                        </a:solidFill>
                        <a:latin typeface="Arial" panose="020B0604020202090204"/>
                      </a:endParaRPr>
                    </a:p>
                  </a:txBody>
                  <a:tcPr marR="54864" marT="18288" marB="18288" anchor="ctr">
                    <a:lnB w="12700" cap="flat" cmpd="sng" algn="ctr">
                      <a:solidFill>
                        <a:srgbClr val="E1E7E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150" b="0">
                          <a:solidFill>
                            <a:srgbClr val="374555"/>
                          </a:solidFill>
                          <a:latin typeface="Arial" panose="020B0604020202090204"/>
                        </a:rPr>
                        <a:t>61</a:t>
                      </a:r>
                      <a:endParaRPr sz="1150" b="0">
                        <a:solidFill>
                          <a:srgbClr val="374555"/>
                        </a:solidFill>
                        <a:latin typeface="Arial" panose="020B0604020202090204"/>
                      </a:endParaRPr>
                    </a:p>
                  </a:txBody>
                  <a:tcPr marR="54864" marT="18288" marB="18288" anchor="ctr">
                    <a:lnB w="12700" cap="flat" cmpd="sng" algn="ctr">
                      <a:solidFill>
                        <a:srgbClr val="E1E7ED"/>
                      </a:solidFill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150" b="0">
                          <a:solidFill>
                            <a:srgbClr val="374555"/>
                          </a:solidFill>
                          <a:latin typeface="Arial" panose="020B0604020202090204"/>
                        </a:rPr>
                        <a:t>1</a:t>
                      </a:r>
                      <a:endParaRPr sz="1150" b="0">
                        <a:solidFill>
                          <a:srgbClr val="374555"/>
                        </a:solidFill>
                        <a:latin typeface="Arial" panose="020B0604020202090204"/>
                      </a:endParaRPr>
                    </a:p>
                  </a:txBody>
                  <a:tcPr marR="54864" marT="18288" marB="18288" anchor="ctr">
                    <a:lnB w="12700" cap="flat" cmpd="sng" algn="ctr">
                      <a:solidFill>
                        <a:srgbClr val="E1E7ED"/>
                      </a:solidFill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150" b="0">
                          <a:solidFill>
                            <a:srgbClr val="374555"/>
                          </a:solidFill>
                          <a:latin typeface="Arial" panose="020B0604020202090204"/>
                        </a:rPr>
                        <a:t>нет</a:t>
                      </a:r>
                      <a:endParaRPr sz="1150" b="0">
                        <a:solidFill>
                          <a:srgbClr val="374555"/>
                        </a:solidFill>
                        <a:latin typeface="Arial" panose="020B0604020202090204"/>
                      </a:endParaRPr>
                    </a:p>
                  </a:txBody>
                  <a:tcPr marR="54864" marT="18288" marB="18288" anchor="ctr">
                    <a:lnB w="12700" cap="flat" cmpd="sng" algn="ctr">
                      <a:solidFill>
                        <a:srgbClr val="E1E7ED"/>
                      </a:solidFill>
                    </a:lnB>
                    <a:solidFill>
                      <a:srgbClr val="FCFDFD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150" b="0">
                          <a:solidFill>
                            <a:srgbClr val="374555"/>
                          </a:solidFill>
                          <a:latin typeface="Arial" panose="020B0604020202090204"/>
                        </a:rPr>
                        <a:t>90</a:t>
                      </a:r>
                      <a:endParaRPr sz="1150" b="0">
                        <a:solidFill>
                          <a:srgbClr val="374555"/>
                        </a:solidFill>
                        <a:latin typeface="Arial" panose="020B0604020202090204"/>
                      </a:endParaRPr>
                    </a:p>
                  </a:txBody>
                  <a:tcPr marR="54864" marT="18288" marB="18288" anchor="ctr">
                    <a:lnB w="12700" cap="flat" cmpd="sng" algn="ctr">
                      <a:solidFill>
                        <a:srgbClr val="E1E7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150" b="0">
                          <a:solidFill>
                            <a:srgbClr val="374555"/>
                          </a:solidFill>
                          <a:latin typeface="Arial" panose="020B0604020202090204"/>
                        </a:rPr>
                        <a:t>100</a:t>
                      </a:r>
                      <a:endParaRPr sz="1150" b="0">
                        <a:solidFill>
                          <a:srgbClr val="374555"/>
                        </a:solidFill>
                        <a:latin typeface="Arial" panose="020B0604020202090204"/>
                      </a:endParaRPr>
                    </a:p>
                  </a:txBody>
                  <a:tcPr marR="54864" marT="18288" marB="18288" anchor="ctr">
                    <a:lnB w="12700" cap="flat" cmpd="sng" algn="ctr">
                      <a:solidFill>
                        <a:srgbClr val="E1E7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150" b="0">
                          <a:solidFill>
                            <a:srgbClr val="374555"/>
                          </a:solidFill>
                          <a:latin typeface="Arial" panose="020B0604020202090204"/>
                        </a:rPr>
                        <a:t>нет</a:t>
                      </a:r>
                      <a:endParaRPr sz="1150" b="0">
                        <a:solidFill>
                          <a:srgbClr val="374555"/>
                        </a:solidFill>
                        <a:latin typeface="Arial" panose="020B0604020202090204"/>
                      </a:endParaRPr>
                    </a:p>
                  </a:txBody>
                  <a:tcPr marR="54864" marT="18288" marB="18288" anchor="ctr">
                    <a:lnB w="12700" cap="flat" cmpd="sng" algn="ctr">
                      <a:solidFill>
                        <a:srgbClr val="E1E7E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150" b="0">
                          <a:solidFill>
                            <a:srgbClr val="374555"/>
                          </a:solidFill>
                          <a:latin typeface="Arial" panose="020B0604020202090204"/>
                        </a:rPr>
                        <a:t>Итого</a:t>
                      </a:r>
                      <a:endParaRPr sz="1150" b="0">
                        <a:solidFill>
                          <a:srgbClr val="374555"/>
                        </a:solidFill>
                        <a:latin typeface="Arial" panose="020B0604020202090204"/>
                      </a:endParaRPr>
                    </a:p>
                  </a:txBody>
                  <a:tcPr marR="54864" marT="18288" marB="18288" anchor="ctr">
                    <a:lnB w="12700" cap="flat" cmpd="sng" algn="ctr">
                      <a:solidFill>
                        <a:srgbClr val="E1E7ED"/>
                      </a:solidFill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150" b="0">
                          <a:solidFill>
                            <a:srgbClr val="374555"/>
                          </a:solidFill>
                          <a:latin typeface="Arial" panose="020B0604020202090204"/>
                        </a:rPr>
                        <a:t>303</a:t>
                      </a:r>
                      <a:endParaRPr sz="1150" b="0">
                        <a:solidFill>
                          <a:srgbClr val="374555"/>
                        </a:solidFill>
                        <a:latin typeface="Arial" panose="020B0604020202090204"/>
                      </a:endParaRPr>
                    </a:p>
                  </a:txBody>
                  <a:tcPr marR="54864" marT="18288" marB="18288" anchor="ctr">
                    <a:lnB w="12700" cap="flat" cmpd="sng" algn="ctr">
                      <a:solidFill>
                        <a:srgbClr val="E1E7ED"/>
                      </a:solidFill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150" b="0">
                          <a:solidFill>
                            <a:srgbClr val="374555"/>
                          </a:solidFill>
                          <a:latin typeface="Arial" panose="020B0604020202090204"/>
                        </a:rPr>
                        <a:t>102</a:t>
                      </a:r>
                      <a:endParaRPr sz="1150" b="0">
                        <a:solidFill>
                          <a:srgbClr val="374555"/>
                        </a:solidFill>
                        <a:latin typeface="Arial" panose="020B0604020202090204"/>
                      </a:endParaRPr>
                    </a:p>
                  </a:txBody>
                  <a:tcPr marR="54864" marT="18288" marB="18288" anchor="ctr">
                    <a:lnB w="12700" cap="flat" cmpd="sng" algn="ctr">
                      <a:solidFill>
                        <a:srgbClr val="E1E7ED"/>
                      </a:solidFill>
                    </a:lnB>
                    <a:solidFill>
                      <a:srgbClr val="FCFDFD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114032" y="4626864"/>
            <a:ext cx="4343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7B8796"/>
                </a:solidFill>
                <a:latin typeface="Arial" panose="020B0604020202090204"/>
              </a:rPr>
              <a:t>Точка 61 — контроль границы: она на единицу</a:t>
            </a:r>
            <a:endParaRPr sz="1000" b="0">
              <a:solidFill>
                <a:srgbClr val="7B8796"/>
              </a:solidFill>
              <a:latin typeface="Arial" panose="020B060402020209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114032" y="4846320"/>
            <a:ext cx="4343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7B8796"/>
                </a:solidFill>
                <a:latin typeface="Arial" panose="020B0604020202090204"/>
              </a:rPr>
              <a:t>выше верхней границы и обязана быть отброшена.</a:t>
            </a:r>
            <a:endParaRPr sz="1000" b="0">
              <a:solidFill>
                <a:srgbClr val="7B8796"/>
              </a:solidFill>
              <a:latin typeface="Arial" panose="020B060402020209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114032" y="5321808"/>
            <a:ext cx="4343400" cy="877824"/>
          </a:xfrm>
          <a:prstGeom prst="roundRect">
            <a:avLst>
              <a:gd name="adj" fmla="val 3000"/>
            </a:avLst>
          </a:prstGeom>
          <a:solidFill>
            <a:srgbClr val="E6F1F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0" y="5413248"/>
            <a:ext cx="39319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102233"/>
                </a:solidFill>
                <a:latin typeface="Arial" panose="020B0604020202090204"/>
              </a:rPr>
              <a:t>Ожидаемый результат: 102 точки — вся группа со значением 50 и две граничные, 40 и 60.</a:t>
            </a:r>
            <a:endParaRPr sz="1100" b="0">
              <a:solidFill>
                <a:srgbClr val="102233"/>
              </a:solidFill>
              <a:latin typeface="Arial" panose="020B0604020202090204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13232" y="6364224"/>
            <a:ext cx="10765231" cy="10972"/>
          </a:xfrm>
          <a:prstGeom prst="rect">
            <a:avLst/>
          </a:prstGeom>
          <a:solidFill>
            <a:srgbClr val="E1E7ED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6455664"/>
            <a:ext cx="975939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7B8796"/>
                </a:solidFill>
                <a:latin typeface="Arial" panose="020B0604020202090204"/>
              </a:rPr>
              <a:t>Задание 6 · Пороговая фильтрация скалярного поля</a:t>
            </a:r>
            <a:endParaRPr sz="900" b="0">
              <a:solidFill>
                <a:srgbClr val="7B8796"/>
              </a:solidFill>
              <a:latin typeface="Arial" panose="020B060402020209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0564063" y="6455664"/>
            <a:ext cx="914400" cy="1384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7B8796"/>
                </a:solidFill>
                <a:latin typeface="Arial" panose="020B0604020202090204"/>
              </a:rPr>
              <a:t>03 / 0</a:t>
            </a:r>
            <a:r>
              <a:rPr lang="en-US" sz="900" b="0">
                <a:solidFill>
                  <a:srgbClr val="7B8796"/>
                </a:solidFill>
                <a:latin typeface="Arial" panose="020B0604020202090204"/>
              </a:rPr>
              <a:t>4</a:t>
            </a:r>
            <a:endParaRPr lang="en-US" sz="900" b="0">
              <a:solidFill>
                <a:srgbClr val="7B8796"/>
              </a:solidFill>
              <a:latin typeface="Arial" panose="020B060402020209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402336"/>
            <a:ext cx="10765231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6E99"/>
                </a:solidFill>
                <a:latin typeface="Arial" panose="020B0604020202090204"/>
              </a:rPr>
              <a:t>ДАЛЬШЕ — ВЖИВУЮ</a:t>
            </a:r>
            <a:endParaRPr sz="1100" b="1">
              <a:solidFill>
                <a:srgbClr val="0B6E99"/>
              </a:solidFill>
              <a:latin typeface="Arial" panose="020B060402020209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13232" y="658368"/>
            <a:ext cx="10765231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900" b="1">
                <a:solidFill>
                  <a:srgbClr val="102233"/>
                </a:solidFill>
                <a:latin typeface="Arial" panose="020B0604020202090204"/>
              </a:rPr>
              <a:t>Что я покажу и по какому критерию проверю</a:t>
            </a:r>
            <a:endParaRPr sz="2900" b="1">
              <a:solidFill>
                <a:srgbClr val="102233"/>
              </a:solidFill>
              <a:latin typeface="Arial" panose="020B060402020209020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13232" y="1371600"/>
            <a:ext cx="10765231" cy="10972"/>
          </a:xfrm>
          <a:prstGeom prst="rect">
            <a:avLst/>
          </a:prstGeom>
          <a:solidFill>
            <a:srgbClr val="E1E7ED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13232" y="1366113"/>
            <a:ext cx="822960" cy="22860"/>
          </a:xfrm>
          <a:prstGeom prst="rect">
            <a:avLst/>
          </a:prstGeom>
          <a:solidFill>
            <a:srgbClr val="0B6E9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13232" y="1700784"/>
            <a:ext cx="310896" cy="274320"/>
          </a:xfrm>
          <a:prstGeom prst="roundRect">
            <a:avLst>
              <a:gd name="adj" fmla="val 35000"/>
            </a:avLst>
          </a:prstGeom>
          <a:solidFill>
            <a:srgbClr val="E6F1F6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0B6E99"/>
                </a:solidFill>
                <a:latin typeface="Arial" panose="020B0604020202090204"/>
              </a:rPr>
              <a:t>1</a:t>
            </a:r>
            <a:endParaRPr sz="1000" b="1">
              <a:solidFill>
                <a:srgbClr val="0B6E99"/>
              </a:solidFill>
              <a:latin typeface="Arial" panose="020B060402020209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70432" y="1664208"/>
            <a:ext cx="50292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02233"/>
                </a:solidFill>
                <a:latin typeface="Arial" panose="020B0604020202090204"/>
              </a:rPr>
              <a:t>Исходник в CloudCompare</a:t>
            </a:r>
            <a:endParaRPr sz="1250" b="1">
              <a:solidFill>
                <a:srgbClr val="102233"/>
              </a:solidFill>
              <a:latin typeface="Arial" panose="020B0604020202090204"/>
            </a:endParaRPr>
          </a:p>
          <a:p>
            <a:pPr algn="l">
              <a:lnSpc>
                <a:spcPct val="100000"/>
              </a:lnSpc>
              <a:spcBef>
                <a:spcPts val="300"/>
              </a:spcBef>
            </a:pPr>
            <a:r>
              <a:rPr sz="1100" b="0">
                <a:solidFill>
                  <a:srgbClr val="374555"/>
                </a:solidFill>
                <a:latin typeface="Arial" panose="020B0604020202090204"/>
              </a:rPr>
              <a:t>303 точки, активное поле intensity</a:t>
            </a:r>
            <a:endParaRPr sz="1100" b="0">
              <a:solidFill>
                <a:srgbClr val="374555"/>
              </a:solidFill>
              <a:latin typeface="Arial" panose="020B060402020209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13232" y="2596896"/>
            <a:ext cx="310896" cy="274320"/>
          </a:xfrm>
          <a:prstGeom prst="roundRect">
            <a:avLst>
              <a:gd name="adj" fmla="val 35000"/>
            </a:avLst>
          </a:prstGeom>
          <a:solidFill>
            <a:srgbClr val="E6F1F6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0B6E99"/>
                </a:solidFill>
                <a:latin typeface="Arial" panose="020B0604020202090204"/>
              </a:rPr>
              <a:t>2</a:t>
            </a:r>
            <a:endParaRPr sz="1000" b="1">
              <a:solidFill>
                <a:srgbClr val="0B6E99"/>
              </a:solidFill>
              <a:latin typeface="Arial" panose="020B060402020209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70432" y="2560320"/>
            <a:ext cx="50292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02233"/>
                </a:solidFill>
                <a:latin typeface="Arial" panose="020B0604020202090204"/>
              </a:rPr>
              <a:t>Filter by value</a:t>
            </a:r>
            <a:endParaRPr sz="1250" b="1">
              <a:solidFill>
                <a:srgbClr val="102233"/>
              </a:solidFill>
              <a:latin typeface="Arial" panose="020B0604020202090204"/>
            </a:endParaRPr>
          </a:p>
          <a:p>
            <a:pPr algn="l">
              <a:lnSpc>
                <a:spcPct val="100000"/>
              </a:lnSpc>
              <a:spcBef>
                <a:spcPts val="300"/>
              </a:spcBef>
            </a:pPr>
            <a:r>
              <a:rPr sz="1100" b="0">
                <a:solidFill>
                  <a:srgbClr val="374555"/>
                </a:solidFill>
                <a:latin typeface="Arial" panose="020B0604020202090204"/>
              </a:rPr>
              <a:t>min 40, max 60, keep points + split cloud</a:t>
            </a:r>
            <a:endParaRPr sz="1100" b="0">
              <a:solidFill>
                <a:srgbClr val="374555"/>
              </a:solidFill>
              <a:latin typeface="Arial" panose="020B0604020202090204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13232" y="3493008"/>
            <a:ext cx="310896" cy="274320"/>
          </a:xfrm>
          <a:prstGeom prst="roundRect">
            <a:avLst>
              <a:gd name="adj" fmla="val 35000"/>
            </a:avLst>
          </a:prstGeom>
          <a:solidFill>
            <a:srgbClr val="E6F1F6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0B6E99"/>
                </a:solidFill>
                <a:latin typeface="Arial" panose="020B0604020202090204"/>
              </a:rPr>
              <a:t>3</a:t>
            </a:r>
            <a:endParaRPr sz="1000" b="1">
              <a:solidFill>
                <a:srgbClr val="0B6E99"/>
              </a:solidFill>
              <a:latin typeface="Arial" panose="020B060402020209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70432" y="3456432"/>
            <a:ext cx="50292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02233"/>
                </a:solidFill>
                <a:latin typeface="Arial" panose="020B0604020202090204"/>
              </a:rPr>
              <a:t>Запуск скрипта Python</a:t>
            </a:r>
            <a:endParaRPr sz="1250" b="1">
              <a:solidFill>
                <a:srgbClr val="102233"/>
              </a:solidFill>
              <a:latin typeface="Arial" panose="020B0604020202090204"/>
            </a:endParaRPr>
          </a:p>
          <a:p>
            <a:pPr algn="l">
              <a:lnSpc>
                <a:spcPct val="100000"/>
              </a:lnSpc>
              <a:spcBef>
                <a:spcPts val="300"/>
              </a:spcBef>
            </a:pPr>
            <a:r>
              <a:rPr sz="1100" b="0">
                <a:solidFill>
                  <a:srgbClr val="374555"/>
                </a:solidFill>
                <a:latin typeface="Arial" panose="020B0604020202090204"/>
              </a:rPr>
              <a:t>печать 102 и состава значений</a:t>
            </a:r>
            <a:endParaRPr sz="1100" b="0">
              <a:solidFill>
                <a:srgbClr val="374555"/>
              </a:solidFill>
              <a:latin typeface="Arial" panose="020B060402020209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13232" y="4389120"/>
            <a:ext cx="310896" cy="274320"/>
          </a:xfrm>
          <a:prstGeom prst="roundRect">
            <a:avLst>
              <a:gd name="adj" fmla="val 35000"/>
            </a:avLst>
          </a:prstGeom>
          <a:solidFill>
            <a:srgbClr val="E6F1F6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0B6E99"/>
                </a:solidFill>
                <a:latin typeface="Arial" panose="020B0604020202090204"/>
              </a:rPr>
              <a:t>4</a:t>
            </a:r>
            <a:endParaRPr sz="1000" b="1">
              <a:solidFill>
                <a:srgbClr val="0B6E99"/>
              </a:solidFill>
              <a:latin typeface="Arial" panose="020B060402020209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70432" y="4352544"/>
            <a:ext cx="50292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02233"/>
                </a:solidFill>
                <a:latin typeface="Arial" panose="020B0604020202090204"/>
              </a:rPr>
              <a:t>Сверка</a:t>
            </a:r>
            <a:endParaRPr sz="1250" b="1">
              <a:solidFill>
                <a:srgbClr val="102233"/>
              </a:solidFill>
              <a:latin typeface="Arial" panose="020B0604020202090204"/>
            </a:endParaRPr>
          </a:p>
          <a:p>
            <a:pPr algn="l">
              <a:lnSpc>
                <a:spcPct val="100000"/>
              </a:lnSpc>
              <a:spcBef>
                <a:spcPts val="300"/>
              </a:spcBef>
            </a:pPr>
            <a:r>
              <a:rPr sz="1100" b="0">
                <a:solidFill>
                  <a:srgbClr val="374555"/>
                </a:solidFill>
                <a:latin typeface="Arial" panose="020B0604020202090204"/>
              </a:rPr>
              <a:t>два результата, списки ID, расхождение</a:t>
            </a:r>
            <a:endParaRPr sz="1100" b="0">
              <a:solidFill>
                <a:srgbClr val="374555"/>
              </a:solidFill>
              <a:latin typeface="Arial" panose="020B0604020202090204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989320" y="1700784"/>
            <a:ext cx="5303520" cy="2834640"/>
          </a:xfrm>
          <a:prstGeom prst="roundRect">
            <a:avLst>
              <a:gd name="adj" fmla="val 3000"/>
            </a:avLst>
          </a:prstGeom>
          <a:solidFill>
            <a:srgbClr val="F6F8F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1810512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7B8796"/>
                </a:solidFill>
                <a:latin typeface="Arial" panose="020B0604020202090204"/>
              </a:rPr>
              <a:t>Критерий успеха</a:t>
            </a:r>
            <a:endParaRPr sz="1100" b="1">
              <a:solidFill>
                <a:srgbClr val="7B8796"/>
              </a:solidFill>
              <a:latin typeface="Arial" panose="020B060402020209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217920" y="2176272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6E99"/>
                </a:solidFill>
                <a:latin typeface="Arial" panose="020B0604020202090204"/>
              </a:rPr>
              <a:t>✓</a:t>
            </a:r>
            <a:endParaRPr sz="1200" b="1">
              <a:solidFill>
                <a:srgbClr val="0B6E99"/>
              </a:solidFill>
              <a:latin typeface="Arial" panose="020B060402020209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528816" y="2176272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374555"/>
                </a:solidFill>
                <a:latin typeface="Arial" panose="020B0604020202090204"/>
              </a:rPr>
              <a:t>В Properties: 303 → 102 точки</a:t>
            </a:r>
            <a:endParaRPr sz="1200" b="0">
              <a:solidFill>
                <a:srgbClr val="374555"/>
              </a:solidFill>
              <a:latin typeface="Arial" panose="020B060402020209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217920" y="2688336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6E99"/>
                </a:solidFill>
                <a:latin typeface="Arial" panose="020B0604020202090204"/>
              </a:rPr>
              <a:t>✓</a:t>
            </a:r>
            <a:endParaRPr sz="1200" b="1">
              <a:solidFill>
                <a:srgbClr val="0B6E99"/>
              </a:solidFill>
              <a:latin typeface="Arial" panose="020B060402020209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528816" y="2688336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374555"/>
                </a:solidFill>
                <a:latin typeface="Arial" panose="020B0604020202090204"/>
              </a:rPr>
              <a:t>min 40 и max 60 — границы включены</a:t>
            </a:r>
            <a:endParaRPr sz="1200" b="0">
              <a:solidFill>
                <a:srgbClr val="374555"/>
              </a:solidFill>
              <a:latin typeface="Arial" panose="020B060402020209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217920" y="320040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6E99"/>
                </a:solidFill>
                <a:latin typeface="Arial" panose="020B0604020202090204"/>
              </a:rPr>
              <a:t>✓</a:t>
            </a:r>
            <a:endParaRPr sz="1200" b="1">
              <a:solidFill>
                <a:srgbClr val="0B6E99"/>
              </a:solidFill>
              <a:latin typeface="Arial" panose="020B060402020209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528816" y="320040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374555"/>
                </a:solidFill>
                <a:latin typeface="Arial" panose="020B0604020202090204"/>
              </a:rPr>
              <a:t>Точки 40 и 60 в выборке, 61 — нет</a:t>
            </a:r>
            <a:endParaRPr sz="1200" b="0">
              <a:solidFill>
                <a:srgbClr val="374555"/>
              </a:solidFill>
              <a:latin typeface="Arial" panose="020B060402020209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217920" y="3712464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6E99"/>
                </a:solidFill>
                <a:latin typeface="Arial" panose="020B0604020202090204"/>
              </a:rPr>
              <a:t>✓</a:t>
            </a:r>
            <a:endParaRPr sz="1200" b="1">
              <a:solidFill>
                <a:srgbClr val="0B6E99"/>
              </a:solidFill>
              <a:latin typeface="Arial" panose="020B060402020209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528816" y="3712464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374555"/>
                </a:solidFill>
                <a:latin typeface="Arial" panose="020B0604020202090204"/>
              </a:rPr>
              <a:t>102 совпадающих ID в обеих средах</a:t>
            </a:r>
            <a:endParaRPr sz="1200" b="0">
              <a:solidFill>
                <a:srgbClr val="374555"/>
              </a:solidFill>
              <a:latin typeface="Arial" panose="020B060402020209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217920" y="4224528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6E99"/>
                </a:solidFill>
                <a:latin typeface="Arial" panose="020B0604020202090204"/>
              </a:rPr>
              <a:t>✓</a:t>
            </a:r>
            <a:endParaRPr sz="1200" b="1">
              <a:solidFill>
                <a:srgbClr val="0B6E99"/>
              </a:solidFill>
              <a:latin typeface="Arial" panose="020B060402020209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528816" y="4224528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374555"/>
                </a:solidFill>
                <a:latin typeface="Arial" panose="020B0604020202090204"/>
              </a:rPr>
              <a:t>setdiff1d в обе стороны = 0</a:t>
            </a:r>
            <a:endParaRPr sz="1200" b="0">
              <a:solidFill>
                <a:srgbClr val="374555"/>
              </a:solidFill>
              <a:latin typeface="Arial" panose="020B060402020209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13232" y="5029200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374555"/>
                </a:solidFill>
                <a:latin typeface="Arial" panose="020B0604020202090204"/>
              </a:rPr>
              <a:t>Обе среды считают от одного исходного файла: экспорт из одной не подаётся на вход другой — иначе сравнение ничего не доказывает.</a:t>
            </a:r>
            <a:endParaRPr sz="1200" b="0">
              <a:solidFill>
                <a:srgbClr val="374555"/>
              </a:solidFill>
              <a:latin typeface="Arial" panose="020B0604020202090204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713232" y="6364224"/>
            <a:ext cx="10765231" cy="10972"/>
          </a:xfrm>
          <a:prstGeom prst="rect">
            <a:avLst/>
          </a:prstGeom>
          <a:solidFill>
            <a:srgbClr val="E1E7ED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3232" y="6455664"/>
            <a:ext cx="975939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7B8796"/>
                </a:solidFill>
                <a:latin typeface="Arial" panose="020B0604020202090204"/>
              </a:rPr>
              <a:t>Задание 6 · Пороговая фильтрация скалярного поля</a:t>
            </a:r>
            <a:endParaRPr sz="900" b="0">
              <a:solidFill>
                <a:srgbClr val="7B8796"/>
              </a:solidFill>
              <a:latin typeface="Arial" panose="020B0604020202090204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0564063" y="6455664"/>
            <a:ext cx="914400" cy="1384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7B8796"/>
                </a:solidFill>
                <a:latin typeface="Arial" panose="020B0604020202090204"/>
              </a:rPr>
              <a:t>0</a:t>
            </a:r>
            <a:r>
              <a:rPr lang="en-US" sz="900" b="0">
                <a:solidFill>
                  <a:srgbClr val="7B8796"/>
                </a:solidFill>
                <a:latin typeface="Arial" panose="020B0604020202090204"/>
              </a:rPr>
              <a:t>4</a:t>
            </a:r>
            <a:r>
              <a:rPr sz="900" b="0">
                <a:solidFill>
                  <a:srgbClr val="7B8796"/>
                </a:solidFill>
                <a:latin typeface="Arial" panose="020B0604020202090204"/>
              </a:rPr>
              <a:t>/ 0</a:t>
            </a:r>
            <a:r>
              <a:rPr lang="en-US" sz="900" b="0">
                <a:solidFill>
                  <a:srgbClr val="7B8796"/>
                </a:solidFill>
                <a:latin typeface="Arial" panose="020B0604020202090204"/>
              </a:rPr>
              <a:t>4</a:t>
            </a:r>
            <a:endParaRPr lang="en-US" sz="900" b="0">
              <a:solidFill>
                <a:srgbClr val="7B8796"/>
              </a:solidFill>
              <a:latin typeface="Arial" panose="020B060402020209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402336"/>
            <a:ext cx="1076248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>
                <a:solidFill>
                  <a:srgbClr val="0B6E99"/>
                </a:solidFill>
                <a:latin typeface="Arial"/>
              </a:rPr>
              <a:t>ССЫЛКИ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58368"/>
            <a:ext cx="10762488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900" b="1">
                <a:solidFill>
                  <a:srgbClr val="102233"/>
                </a:solidFill>
                <a:latin typeface="Arial"/>
              </a:rPr>
              <a:t>Источники и документация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371600"/>
            <a:ext cx="10762488" cy="10972"/>
          </a:xfrm>
          <a:prstGeom prst="rect">
            <a:avLst/>
          </a:prstGeom>
          <a:solidFill>
            <a:srgbClr val="E1E7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13232" y="1366113"/>
            <a:ext cx="822960" cy="22860"/>
          </a:xfrm>
          <a:prstGeom prst="rect">
            <a:avLst/>
          </a:prstGeom>
          <a:solidFill>
            <a:srgbClr val="0B6E9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719072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>
                <a:solidFill>
                  <a:srgbClr val="0B6E99"/>
                </a:solidFill>
                <a:latin typeface="Arial"/>
              </a:rPr>
              <a:t>[1]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1872" y="1682496"/>
            <a:ext cx="99669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300" b="1">
                <a:solidFill>
                  <a:srgbClr val="102233"/>
                </a:solidFill>
                <a:latin typeface="Arial"/>
              </a:rPr>
              <a:t>CloudCompare. User manual. Version 2.6.1</a:t>
            </a:r>
            <a:r>
              <a:rPr sz="1100">
                <a:solidFill>
                  <a:srgbClr val="374555"/>
                </a:solidFill>
                <a:latin typeface="Arial"/>
              </a:rPr>
              <a:t>  —  официальное руководство, раздел о скалярных полях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sz="1000">
                <a:solidFill>
                  <a:srgbClr val="7B8796"/>
                </a:solidFill>
                <a:latin typeface="Consolas"/>
              </a:rPr>
              <a:t>https://www.cloudcompare.org/doc/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56032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>
                <a:solidFill>
                  <a:srgbClr val="0B6E99"/>
                </a:solidFill>
                <a:latin typeface="Arial"/>
              </a:rPr>
              <a:t>[2]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1872" y="2523744"/>
            <a:ext cx="99669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300" b="1">
                <a:solidFill>
                  <a:srgbClr val="102233"/>
                </a:solidFill>
                <a:latin typeface="Arial"/>
              </a:rPr>
              <a:t>CloudCompare Wiki. Scalar fields / Filter by Value</a:t>
            </a:r>
            <a:r>
              <a:rPr sz="1100">
                <a:solidFill>
                  <a:srgbClr val="374555"/>
                </a:solidFill>
                <a:latin typeface="Arial"/>
              </a:rPr>
              <a:t>  —  описание операции отбора по значению поля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sz="1000">
                <a:solidFill>
                  <a:srgbClr val="7B8796"/>
                </a:solidFill>
                <a:latin typeface="Consolas"/>
              </a:rPr>
              <a:t>https://www.cloudcompare.org/doc/wiki/index.php?title=Scalar_fields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3401568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>
                <a:solidFill>
                  <a:srgbClr val="0B6E99"/>
                </a:solidFill>
                <a:latin typeface="Arial"/>
              </a:rPr>
              <a:t>[3]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61872" y="3364992"/>
            <a:ext cx="99669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300" b="1">
                <a:solidFill>
                  <a:srgbClr val="102233"/>
                </a:solidFill>
                <a:latin typeface="Arial"/>
              </a:rPr>
              <a:t>NumPy Documentation. Indexing on ndarrays: Boolean array indexing</a:t>
            </a:r>
            <a:r>
              <a:rPr sz="1100">
                <a:solidFill>
                  <a:srgbClr val="374555"/>
                </a:solidFill>
                <a:latin typeface="Arial"/>
              </a:rPr>
              <a:t>  —  как работает булева маска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sz="1000">
                <a:solidFill>
                  <a:srgbClr val="7B8796"/>
                </a:solidFill>
                <a:latin typeface="Consolas"/>
              </a:rPr>
              <a:t>https://numpy.org/doc/stable/user/basics.indexing.html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4242816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>
                <a:solidFill>
                  <a:srgbClr val="0B6E99"/>
                </a:solidFill>
                <a:latin typeface="Arial"/>
              </a:rPr>
              <a:t>[4]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61872" y="4206240"/>
            <a:ext cx="99669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300" b="1">
                <a:solidFill>
                  <a:srgbClr val="102233"/>
                </a:solidFill>
                <a:latin typeface="Arial"/>
              </a:rPr>
              <a:t>NumPy Documentation. numpy.setdiff1d</a:t>
            </a:r>
            <a:r>
              <a:rPr sz="1100">
                <a:solidFill>
                  <a:srgbClr val="374555"/>
                </a:solidFill>
                <a:latin typeface="Arial"/>
              </a:rPr>
              <a:t>  —  сверка множеств идентификаторов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sz="1000">
                <a:solidFill>
                  <a:srgbClr val="7B8796"/>
                </a:solidFill>
                <a:latin typeface="Consolas"/>
              </a:rPr>
              <a:t>https://numpy.org/doc/stable/reference/generated/numpy.setdiff1d.html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5084064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>
                <a:solidFill>
                  <a:srgbClr val="0B6E99"/>
                </a:solidFill>
                <a:latin typeface="Arial"/>
              </a:rPr>
              <a:t>[5]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61872" y="5047488"/>
            <a:ext cx="99669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300" b="1">
                <a:solidFill>
                  <a:srgbClr val="102233"/>
                </a:solidFill>
                <a:latin typeface="Arial"/>
              </a:rPr>
              <a:t>Matplotlib Documentation. mplot3d: Axes3D.scatter</a:t>
            </a:r>
            <a:r>
              <a:rPr sz="1100">
                <a:solidFill>
                  <a:srgbClr val="374555"/>
                </a:solidFill>
                <a:latin typeface="Arial"/>
              </a:rPr>
              <a:t>  —  построение рисунков облака точек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sz="1000">
                <a:solidFill>
                  <a:srgbClr val="7B8796"/>
                </a:solidFill>
                <a:latin typeface="Consolas"/>
              </a:rPr>
              <a:t>https://matplotlib.org/stable/api/toolkits/mplot3d/axes3d.html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5998464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50">
                <a:solidFill>
                  <a:srgbClr val="7B8796"/>
                </a:solidFill>
                <a:latin typeface="Arial"/>
              </a:rPr>
              <a:t>Все ссылки проверены 27.10.2026; версии программ указаны в разделе «Ограничения» реферата.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3232" y="6364224"/>
            <a:ext cx="10762488" cy="10972"/>
          </a:xfrm>
          <a:prstGeom prst="rect">
            <a:avLst/>
          </a:prstGeom>
          <a:solidFill>
            <a:srgbClr val="E1E7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6455664"/>
            <a:ext cx="8778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>
                <a:solidFill>
                  <a:srgbClr val="7B8796"/>
                </a:solidFill>
                <a:latin typeface="Arial"/>
              </a:rPr>
              <a:t>Задание 6 · Пороговая фильтрация скалярного поля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61320" y="6455664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>
                <a:solidFill>
                  <a:srgbClr val="7B8796"/>
                </a:solidFill>
                <a:latin typeface="Arial"/>
              </a:rPr>
              <a:t>05 / 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2229</Words>
  <Application>WPS 表格</Application>
  <PresentationFormat>On-screen Show (4:3)</PresentationFormat>
  <Paragraphs>162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20" baseType="lpstr">
      <vt:lpstr>Arial</vt:lpstr>
      <vt:lpstr>宋体</vt:lpstr>
      <vt:lpstr>Wingdings</vt:lpstr>
      <vt:lpstr>Arial</vt:lpstr>
      <vt:lpstr>Consolas</vt:lpstr>
      <vt:lpstr>Thonburi</vt:lpstr>
      <vt:lpstr>Calibri</vt:lpstr>
      <vt:lpstr>Helvetica Neue</vt:lpstr>
      <vt:lpstr>微软雅黑</vt:lpstr>
      <vt:lpstr>汉仪旗黑</vt:lpstr>
      <vt:lpstr>Arial Unicode MS</vt:lpstr>
      <vt:lpstr>Consolas</vt:lpstr>
      <vt:lpstr>苹方-简</vt:lpstr>
      <vt:lpstr>宋体-简</vt:lpstr>
      <vt:lpstr>儷宋 Pro</vt:lpstr>
      <vt:lpstr>Office Theme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卍</cp:lastModifiedBy>
  <cp:revision>2</cp:revision>
  <dcterms:created xsi:type="dcterms:W3CDTF">2026-10-27T17:09:21Z</dcterms:created>
  <dcterms:modified xsi:type="dcterms:W3CDTF">2026-10-27T17:09:21Z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446E5D5CBB03141EC1DAE06AA72AA5AF_43</vt:lpwstr>
  </property>
  <property fmtid="{D5CDD505-2E9C-101B-9397-08002B2CF9AE}" pid="3" name="KSOProductBuildVer">
    <vt:lpwstr>2052-12.1.23540.23540</vt:lpwstr>
  </property>
</Properties>
</file>