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ink/ink1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Типичная точность, мм</c:v>
                </c:pt>
              </c:strCache>
            </c:strRef>
          </c:tx>
          <c:spPr>
            <a:solidFill>
              <a:srgbClr val="1E40AF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F59E0B"/>
              </a:solidFill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Phase-shift</c:v>
                </c:pt>
                <c:pt idx="1">
                  <c:v>Time-of-flight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2"/>
      </c:valAx>
    </c:plotArea>
    <c:plotVisOnly val="1"/>
    <c:dispBlanksAs val="gap"/>
    <c:showDLblsOverMax val="0"/>
    <c:extLst>
      <c:ext uri="{0b15fc19-7d7d-44ad-8c2d-2c3a37ce22c3}">
        <chartProps xmlns="https://web.wps.cn/et/2018/main" chartId="{f2833240-62e1-487b-845b-fa44e8d34d5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9-22T20:35:22"/>
    </inkml:context>
    <inkml:brush xml:id="br0">
      <inkml:brushProperty name="width" value="0.08819" units="cm"/>
      <inkml:brushProperty name="height" value="0.35278" units="cm"/>
      <inkml:brushProperty name="color" value="#0c0d20"/>
      <inkml:brushProperty name="tip" value="rectangle"/>
      <inkml:brushProperty name="rasterOp" value="maskPen"/>
      <inkml:brushProperty name="ignorePressure" value="0"/>
    </inkml:brush>
  </inkml:definitions>
  <inkml:trace contextRef="#ctx0" brushRef="#br0">17682.801 10580.801,'11.000'0.000,"6.000"0.000,-5.000 0.000,3.000 0.000,8.000 0.000,5.000 0.000,5.000 0.000,-5.000 0.000,3.000 0.000,2.000 0.000,1.000 0.000,5.000 0.000,0.000 0.000,0.000 0.000,-1.000 0.000,-2.000 0.000,-1.000 0.000,0.000 0.000,-2.000 0.000,-2.000 0.000,-2.000 0.000,-3.000 0.000,-2.000 0.000,-2.000 0.000,-2.000 0.000,1.000 0.000,-2.000 0.000,-1.000 0.000,-4.000 0.000,-2.000 0.000,-1.000 0.000,-1.000 0.000,5.000 0.000,-4.000 0.000,1.000 0.000,0.000 0.000,-1.000 0.000,1.000 0.000,0.000 0.000,1.000 0.000,1.000 0.000,-2.000 0.000,0.000 0.000,1.000 0.000,2.000 0.000,3.000 0.000,-3.000 0.000,-1.000 0.000,0.000 0.000,2.000 0.000,0.000 0.000,-4.000 0.000,-2.000 0.000,0.000 0.000,1.000 0.000,0.000 0.000,0.000 0.000,0.000 0.000,0.000 0.000,0.000 0.000,-1.000 0.000,2.000 0.000,0.000-2.000,-2.000 1.000,0.000-1.000,1.000 2.000,-1.000-1.000,1.000 1.000,0.000 0.000,1.000 0.000,0.000 1.000,3.000-1.000,-4.000-1.000,1.000-1.000,0.000 1.000,2.000-1.000,-1.000 1.000,-3.000-1.000,0.000 0.000,0.000 2.000,0.000 0.000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ase_shift_cover_1024x57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1078992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 panose="020B0604020202090204"/>
              </a:rPr>
              <a:t>Принцип phase-shift
в лазерном сканировании</a:t>
            </a:r>
            <a:endParaRPr sz="2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24871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Arial" panose="020B0604020202090204"/>
              </a:rPr>
              <a:t>Устройство, особенности и сравнение
с методом time-of-flight</a:t>
            </a:r>
            <a:endParaRPr sz="1300" b="0">
              <a:solidFill>
                <a:srgbClr val="DBEAFE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3675887"/>
            <a:ext cx="2240280" cy="4114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767328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rial" panose="020B0604020202090204"/>
              </a:rPr>
              <a:t>Phase-shift vs ToF</a:t>
            </a:r>
            <a:endParaRPr sz="1200" b="1">
              <a:solidFill>
                <a:srgbClr val="0F172A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rial" panose="020B0604020202090204"/>
              </a:rPr>
              <a:t>Слайд 1</a:t>
            </a:r>
            <a:endParaRPr sz="800">
              <a:solidFill>
                <a:srgbClr val="FFFFFF"/>
              </a:solidFill>
              <a:latin typeface="Arial" panose="020B060402020209020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8" name="墨迹 17"/>
              <p14:cNvContentPartPr/>
              <p14:nvPr/>
            </p14:nvContentPartPr>
            <p14:xfrm>
              <a:off x="11228705" y="6708775"/>
              <a:ext cx="895350" cy="1079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"/>
            </p:blipFill>
            <p:spPr>
              <a:xfrm>
                <a:off x="11228705" y="6708775"/>
                <a:ext cx="895350" cy="1079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План презентации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Логика: принцип → устройство → сравнение → вывод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663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5270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" y="181051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896112" y="1581912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51206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1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2768" y="16367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 panose="020B0604020202090204"/>
              </a:rPr>
              <a:t>Зачем нужны два метода измерения</a:t>
            </a:r>
            <a:endParaRPr sz="1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77840" y="1417320"/>
            <a:ext cx="4663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15270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24144" y="181051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742431" y="1581912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1" y="1719072"/>
            <a:ext cx="51206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1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16367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 panose="020B0604020202090204"/>
              </a:rPr>
              <a:t>Как работает phase-shift и из чего состоит сканер</a:t>
            </a:r>
            <a:endParaRPr sz="1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4663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264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7824" y="35478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96112" y="3319272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56432"/>
            <a:ext cx="51206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1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72768" y="33741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 panose="020B0604020202090204"/>
              </a:rPr>
              <a:t>Как работает time-of-flight</a:t>
            </a:r>
            <a:endParaRPr sz="1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577840" y="3154680"/>
            <a:ext cx="466344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3264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24144" y="35478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742431" y="3319272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1" y="3456432"/>
            <a:ext cx="51206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1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19088" y="33741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 panose="020B0604020202090204"/>
              </a:rPr>
              <a:t>Сравнение по точности, дальности, плюсам и минусам</a:t>
            </a:r>
            <a:endParaRPr sz="1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154680" y="4892040"/>
            <a:ext cx="585216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0984" y="5001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00984" y="5285231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319272" y="5056631"/>
            <a:ext cx="512064" cy="51206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5193792"/>
            <a:ext cx="51206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rial" panose="020B0604020202090204"/>
              </a:rPr>
              <a:t>5</a:t>
            </a:r>
            <a:endParaRPr sz="1100" b="1">
              <a:solidFill>
                <a:srgbClr val="0F172A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95928" y="51114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Arial" panose="020B0604020202090204"/>
              </a:rPr>
              <a:t>Когда выбирать phase-shift, а когда ToF</a:t>
            </a:r>
            <a:endParaRPr sz="1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2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Зачем нужны два метода измерения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Оба метода решают одну задачу: определить расстояние до объекта по отражённому сигналу.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93192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356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Общая задача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4" y="1719072"/>
            <a:ext cx="3657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Сканер должен быстро измерить расстояние до множества точек и получить плотное облако точек.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393192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264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Почему одного метода мало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3547872"/>
            <a:ext cx="3657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На малых дистанциях важна максимальная точность, а на больших дистанциях важнее дальность и устойчивость сигнала.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66360" y="2697480"/>
            <a:ext cx="822960" cy="822960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01752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 panose="020B0604020202090204"/>
              </a:rPr>
              <a:t>Лазер</a:t>
            </a:r>
            <a:endParaRPr sz="1000" b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6080760" y="2724912"/>
            <a:ext cx="1965960" cy="640080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 rot="10800000">
            <a:off x="8183879" y="2724912"/>
            <a:ext cx="1965960" cy="640080"/>
          </a:xfrm>
          <a:prstGeom prst="chevron">
            <a:avLst/>
          </a:prstGeom>
          <a:solidFill>
            <a:srgbClr val="FDE68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78440" y="2331720"/>
            <a:ext cx="960120" cy="137160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3032" y="283464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Arial" panose="020B0604020202090204"/>
              </a:rPr>
              <a:t>Объект</a:t>
            </a:r>
            <a:endParaRPr sz="11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29260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8A"/>
                </a:solidFill>
                <a:latin typeface="Arial" panose="020B0604020202090204"/>
              </a:rPr>
              <a:t>Луч к объекту</a:t>
            </a:r>
            <a:endParaRPr sz="1200" b="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9640" y="2926080"/>
            <a:ext cx="9601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 panose="020B0604020202090204"/>
              </a:rPr>
              <a:t>Отражение</a:t>
            </a:r>
            <a:endParaRPr sz="1200" b="0">
              <a:solidFill>
                <a:srgbClr val="0F172A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20640" y="4160520"/>
            <a:ext cx="5852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Phase-shift измеряет фазовый сдвиг непрерывно модулированного сигнала.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Time-of-flight измеряет время пролёта короткого импульса.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Поэтому первый метод сильнее по точности, а второй обычно сильнее по дальности.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3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Как работает phase-shift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Идея метода: сравнить фазу излучённой и отражённой модулированной волны.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Arial" panose="020B0604020202090204"/>
              </a:rPr>
              <a:t>d = (Δφ / 4π) × λмод</a:t>
            </a:r>
            <a:endParaRPr sz="1800" b="1">
              <a:solidFill>
                <a:srgbClr val="1E40AF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Лазер излучается непрерывно, но его интенсивность модулируется с заданной частотой.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После отражения от объекта сигнал приходит с запаздыванием, которое проявляется как фазовый сдвиг.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Чем точнее измерена фаза, тем точнее вычисляется расстояние.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3560" y="129844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Arial" panose="020B0604020202090204"/>
              </a:rPr>
              <a:t>Излучённый сигнал</a:t>
            </a:r>
            <a:endParaRPr sz="1100" b="1">
              <a:solidFill>
                <a:srgbClr val="1E40AF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23560" y="2816352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 panose="020B0604020202090204"/>
              </a:rPr>
              <a:t>Отражённый сигнал</a:t>
            </a:r>
            <a:endParaRPr sz="1100" b="1">
              <a:solidFill>
                <a:srgbClr val="F59E0B"/>
              </a:solidFill>
              <a:latin typeface="Arial" panose="020B060402020209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532120" y="1965960"/>
            <a:ext cx="5394960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3520440"/>
            <a:ext cx="5394960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 10"/>
          <p:cNvSpPr/>
          <p:nvPr/>
        </p:nvSpPr>
        <p:spPr>
          <a:xfrm>
            <a:off x="5669280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 rot="10800000">
            <a:off x="6163056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c 12"/>
          <p:cNvSpPr/>
          <p:nvPr/>
        </p:nvSpPr>
        <p:spPr>
          <a:xfrm>
            <a:off x="5943600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 rot="10800000">
            <a:off x="6437376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>
            <a:off x="6629400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 rot="10800000">
            <a:off x="7123176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6903720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 rot="10800000">
            <a:off x="7397496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7589520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 rot="10800000">
            <a:off x="8083296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7863840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10800000">
            <a:off x="8357616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rc 22"/>
          <p:cNvSpPr/>
          <p:nvPr/>
        </p:nvSpPr>
        <p:spPr>
          <a:xfrm>
            <a:off x="8549640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rc 23"/>
          <p:cNvSpPr/>
          <p:nvPr/>
        </p:nvSpPr>
        <p:spPr>
          <a:xfrm rot="10800000">
            <a:off x="9043416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8823960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 rot="10800000">
            <a:off x="9317736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9509760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c 27"/>
          <p:cNvSpPr/>
          <p:nvPr/>
        </p:nvSpPr>
        <p:spPr>
          <a:xfrm rot="10800000">
            <a:off x="10003536" y="1463040"/>
            <a:ext cx="502920" cy="1005840"/>
          </a:xfrm>
          <a:prstGeom prst="arc">
            <a:avLst/>
          </a:prstGeom>
          <a:noFill/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c 28"/>
          <p:cNvSpPr/>
          <p:nvPr/>
        </p:nvSpPr>
        <p:spPr>
          <a:xfrm>
            <a:off x="9784080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 rot="10800000">
            <a:off x="10277856" y="2999232"/>
            <a:ext cx="502920" cy="1005840"/>
          </a:xfrm>
          <a:prstGeom prst="arc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402455"/>
            <a:ext cx="1143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Arial" panose="020B0604020202090204"/>
                <a:sym typeface="+mn-ea"/>
              </a:rPr>
              <a:t>Δφ </a:t>
            </a:r>
            <a:endParaRPr sz="1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9808" y="464515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 panose="020B0604020202090204"/>
              </a:rPr>
              <a:t>Ключевое ограничение: фаза измеряется внутри периода модуляции, поэтому на больших дистанциях возникает неоднозначность.</a:t>
            </a:r>
            <a:endParaRPr sz="12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4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Устройство phase-shift-сканера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Типовой тракт сигнала от излучения до расчёта расстояния.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97280" cy="93268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Лазерный
источник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1947672" y="2450592"/>
            <a:ext cx="320040" cy="329184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2148840"/>
            <a:ext cx="1005840" cy="93268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3957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Модулятор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3227832" y="2450592"/>
            <a:ext cx="320040" cy="329184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2148840"/>
            <a:ext cx="1234440" cy="93268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1" y="239572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Сканирующая
оптика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64024" y="2450592"/>
            <a:ext cx="320040" cy="329184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2148840"/>
            <a:ext cx="960120" cy="93268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39572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Объект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6062472" y="2450592"/>
            <a:ext cx="320040" cy="329184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148840"/>
            <a:ext cx="1143000" cy="93268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9572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Фотоприёмник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7754112" y="2450592"/>
            <a:ext cx="320040" cy="329184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5008" y="2148840"/>
            <a:ext cx="1280160" cy="93268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8" y="2395728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Блок обработки
фазы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9418320" y="2450592"/>
            <a:ext cx="320040" cy="329184"/>
          </a:xfrm>
          <a:prstGeom prst="chevron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0" y="2148840"/>
            <a:ext cx="1325880" cy="93268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395728"/>
            <a:ext cx="1234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90204"/>
              </a:rPr>
              <a:t>Расчёт
расстояния</a:t>
            </a:r>
            <a:endParaRPr sz="10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3913632"/>
            <a:ext cx="5166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Непрерывный модулированный луч обеспечивает высокую частоту измерений.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Фотоприёмник и электроника сравнивают фазу опорного и принятого сигнала.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Часто используют несколько частот модуляции, чтобы уменьшить неоднозначность.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Такой сканер особенно эффективен в помещениях и на средних дистанциях.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3886200"/>
            <a:ext cx="484632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3995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Особенности конструкции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47104" y="4279392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Высокая стабильность генератора, качественная оптика и точная электронная фазометрия напрямую влияют на итоговую точность.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5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Как работает time-of-flight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Метод измеряет время, за которое импульс проходит путь до объекта и обратно.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2618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40AF"/>
                </a:solidFill>
                <a:latin typeface="Arial" panose="020B0604020202090204"/>
              </a:rPr>
              <a:t>d = c × t / 2</a:t>
            </a:r>
            <a:endParaRPr sz="2000" b="1">
              <a:solidFill>
                <a:srgbClr val="1E40AF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Лазер испускает короткий импульс и фиксирует момент отправки.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После отражения приёмник регистрирует момент прихода импульса.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Разность времени напрямую переводится в расстояние через скорость света.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0" y="1353312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3A8A"/>
                </a:solidFill>
                <a:latin typeface="Arial" panose="020B0604020202090204"/>
              </a:rPr>
              <a:t>Отправка</a:t>
            </a:r>
            <a:endParaRPr sz="105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89720" y="1353312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3A8A"/>
                </a:solidFill>
                <a:latin typeface="Arial" panose="020B0604020202090204"/>
              </a:rPr>
              <a:t>Приём</a:t>
            </a:r>
            <a:endParaRPr sz="1050" b="1">
              <a:solidFill>
                <a:srgbClr val="1E3A8A"/>
              </a:solidFill>
              <a:latin typeface="Arial" panose="020B060402020209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623560" y="2743200"/>
            <a:ext cx="5257800" cy="0"/>
          </a:xfrm>
          <a:prstGeom prst="line">
            <a:avLst/>
          </a:prstGeom>
          <a:ln w="1651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89320" y="2057400"/>
            <a:ext cx="256032" cy="685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89720" y="2057400"/>
            <a:ext cx="256032" cy="685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uble Wave 11"/>
          <p:cNvSpPr/>
          <p:nvPr/>
        </p:nvSpPr>
        <p:spPr>
          <a:xfrm>
            <a:off x="6400800" y="3794760"/>
            <a:ext cx="2834640" cy="347472"/>
          </a:xfrm>
          <a:prstGeom prst="doubleWave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224528"/>
            <a:ext cx="2423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путь луча туда и обратно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96128" y="4709160"/>
            <a:ext cx="52578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481888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Почему дальность больше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2" y="5102352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ToF не зависит от фазовой неоднозначности внутри одного периода модуляции и лучше подходит для больших расстояний.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6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Сравнение по точности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Обобщённая инженерная картина: phase-shift точнее, ToF дальше.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08760"/>
          <a:ext cx="46634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06440" y="1572768"/>
            <a:ext cx="54864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52744" y="168249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Почему phase-shift точнее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52744" y="1965960"/>
            <a:ext cx="52120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Фазовый сдвиг можно измерять очень тонко, поэтому на коротких и средних расстояниях метод даёт миллиметровый уровень точности.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852928"/>
            <a:ext cx="54864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9626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Почему ToF точнее не становится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2744" y="3246120"/>
            <a:ext cx="52120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Разрешение ограничено точностью измерения очень малых временных интервалов и формой отражённого импульса.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06440" y="4133087"/>
            <a:ext cx="548640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2744" y="4242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Практический вывод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52744" y="4526279"/>
            <a:ext cx="52120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Для архитектурных обмеров, BIM и промышленной инспекции чаще выбирают phase-shift, если дальность не критична.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7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Сравнение по дальности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Максимальная дальность зависит от мощности, чувствительности приёмника и метода измерения.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Arial" panose="020B0604020202090204"/>
              </a:rPr>
              <a:t>Относительный рабочий диапазон</a:t>
            </a:r>
            <a:endParaRPr sz="1300" b="1">
              <a:solidFill>
                <a:srgbClr val="1E3A8A"/>
              </a:solidFill>
              <a:latin typeface="Arial" panose="020B0604020202090204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914400" y="2880360"/>
            <a:ext cx="98755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2697480"/>
            <a:ext cx="0" cy="36576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31272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 panose="020B0604020202090204"/>
              </a:rPr>
              <a:t>0</a:t>
            </a:r>
            <a:endParaRPr sz="1000" b="0">
              <a:solidFill>
                <a:srgbClr val="475569"/>
              </a:solidFill>
              <a:latin typeface="Arial" panose="020B060402020209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834640" y="2697480"/>
            <a:ext cx="0" cy="36576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24912" y="31272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 panose="020B0604020202090204"/>
              </a:rPr>
              <a:t>50</a:t>
            </a:r>
            <a:endParaRPr sz="1000" b="0">
              <a:solidFill>
                <a:srgbClr val="475569"/>
              </a:solidFill>
              <a:latin typeface="Arial" panose="020B0604020202090204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2697480"/>
            <a:ext cx="0" cy="36576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53712" y="31272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 panose="020B0604020202090204"/>
              </a:rPr>
              <a:t>100</a:t>
            </a:r>
            <a:endParaRPr sz="1000" b="0">
              <a:solidFill>
                <a:srgbClr val="475569"/>
              </a:solidFill>
              <a:latin typeface="Arial" panose="020B060402020209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2697480"/>
            <a:ext cx="0" cy="36576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48272" y="31272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 panose="020B0604020202090204"/>
              </a:rPr>
              <a:t>200</a:t>
            </a:r>
            <a:endParaRPr sz="1000" b="0">
              <a:solidFill>
                <a:srgbClr val="475569"/>
              </a:solidFill>
              <a:latin typeface="Arial" panose="020B060402020209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241280" y="2697480"/>
            <a:ext cx="0" cy="36576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31552" y="31272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rial" panose="020B0604020202090204"/>
              </a:rPr>
              <a:t>500</a:t>
            </a:r>
            <a:endParaRPr sz="100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32688" y="1920240"/>
            <a:ext cx="3840480" cy="45720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203911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90204"/>
              </a:rPr>
              <a:t>Phase-shift: ближняя и средняя зона</a:t>
            </a:r>
            <a:endParaRPr sz="12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32688" y="3657600"/>
            <a:ext cx="8961120" cy="4572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4983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rial" panose="020B0604020202090204"/>
              </a:rPr>
              <a:t>Time-of-flight: средняя и большая дальность</a:t>
            </a:r>
            <a:endParaRPr sz="1200" b="1">
              <a:solidFill>
                <a:srgbClr val="0F172A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Phase-shift ограничен неоднозначностью фазы и сильнее зависит от качества отражения.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ToF уверенно работает на больших объектах и открытых пространствах.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3A8A"/>
                </a:solidFill>
                <a:latin typeface="Arial" panose="020B0604020202090204"/>
              </a:rPr>
              <a:t>• Поэтому для карьеров, трасс, тоннелей и топосъёмки чаще выбирают ToF.</a:t>
            </a:r>
            <a:endParaRPr sz="130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8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Достоинства и недостатки phase-shift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Сильные стороны метода раскрываются там, где дистанции умеренные, а требования к детализации высокие.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30352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815" y="1664335"/>
            <a:ext cx="342455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Arial" panose="020B0604020202090204"/>
              </a:rPr>
              <a:t>Преимущества</a:t>
            </a:r>
            <a:endParaRPr sz="1800" b="1">
              <a:solidFill>
                <a:srgbClr val="0F766E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82512" y="1664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Arial" panose="020B0604020202090204"/>
              </a:rPr>
              <a:t>Недостатки</a:t>
            </a:r>
            <a:endParaRPr sz="1800" b="1">
              <a:solidFill>
                <a:srgbClr val="B91C1C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532D"/>
                </a:solidFill>
                <a:latin typeface="Arial" panose="020B0604020202090204"/>
              </a:rPr>
              <a:t>• Очень высокая точность на близких и средних дистанциях.</a:t>
            </a:r>
            <a:endParaRPr sz="1300">
              <a:solidFill>
                <a:srgbClr val="14532D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532D"/>
                </a:solidFill>
                <a:latin typeface="Arial" panose="020B0604020202090204"/>
              </a:rPr>
              <a:t>• Высокая скорость съёмки и плотное облако точек.</a:t>
            </a:r>
            <a:endParaRPr sz="1300">
              <a:solidFill>
                <a:srgbClr val="14532D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532D"/>
                </a:solidFill>
                <a:latin typeface="Arial" panose="020B0604020202090204"/>
              </a:rPr>
              <a:t>• Хорошо подходит для помещений, фасадов и инженерных объектов.</a:t>
            </a:r>
            <a:endParaRPr sz="1300">
              <a:solidFill>
                <a:srgbClr val="14532D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532D"/>
                </a:solidFill>
                <a:latin typeface="Arial" panose="020B0604020202090204"/>
              </a:rPr>
              <a:t>• Даёт более чистую детализацию мелких элементов.</a:t>
            </a:r>
            <a:endParaRPr sz="1300">
              <a:solidFill>
                <a:srgbClr val="14532D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7F1D1D"/>
                </a:solidFill>
                <a:latin typeface="Arial" panose="020B0604020202090204"/>
              </a:rPr>
              <a:t>• Максимальная дальность обычно меньше, чем у ToF.</a:t>
            </a:r>
            <a:endParaRPr sz="1300">
              <a:solidFill>
                <a:srgbClr val="7F1D1D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7F1D1D"/>
                </a:solidFill>
                <a:latin typeface="Arial" panose="020B0604020202090204"/>
              </a:rPr>
              <a:t>• Есть риск фазовой неоднозначности на больших дистанциях.</a:t>
            </a:r>
            <a:endParaRPr sz="1300">
              <a:solidFill>
                <a:srgbClr val="7F1D1D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7F1D1D"/>
                </a:solidFill>
                <a:latin typeface="Arial" panose="020B0604020202090204"/>
              </a:rPr>
              <a:t>• Чувствителен к сложным отражающим поверхностям.</a:t>
            </a:r>
            <a:endParaRPr sz="1300">
              <a:solidFill>
                <a:srgbClr val="7F1D1D"/>
              </a:solidFill>
              <a:latin typeface="Arial" panose="020B0604020202090204"/>
            </a:endParaRP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7F1D1D"/>
                </a:solidFill>
                <a:latin typeface="Arial" panose="020B0604020202090204"/>
              </a:rPr>
              <a:t>• Менее удобен для очень крупных открытых территорий.</a:t>
            </a:r>
            <a:endParaRPr sz="1300">
              <a:solidFill>
                <a:srgbClr val="7F1D1D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9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3A8A"/>
                </a:solidFill>
                <a:latin typeface="Arial" panose="020B0604020202090204"/>
              </a:rPr>
              <a:t>Когда выбирать phase-shift, а когда ToF</a:t>
            </a:r>
            <a:endParaRPr sz="24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9692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  <a:latin typeface="Arial" panose="020B0604020202090204"/>
              </a:rPr>
              <a:t>Практическая логика выбора зависит от расстояния, точности и характера объекта.</a:t>
            </a:r>
            <a:endParaRPr sz="95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285232" cy="4434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527048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Выбирать phase-shift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5010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Интерьеры и производственные помещения
Архитектурные обмеры и BIM
Фасады и сложные инженерные конструкции
Ситуации, где важны миллиметры и высокая плотность точек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08192" y="1417320"/>
            <a:ext cx="5285232" cy="443484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527048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Arial" panose="020B0604020202090204"/>
              </a:rPr>
              <a:t>Выбирать ToF</a:t>
            </a:r>
            <a:endParaRPr sz="1500" b="1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54496" y="1810512"/>
            <a:ext cx="5010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rial" panose="020B0604020202090204"/>
              </a:rPr>
              <a:t>Топосъёмка и большие открытые территории
Карьеры, тоннели, трассы и инфраструктурные объекты
Задачи, где нужна большая дальность
Сценарии, где допустима меньшая точность ради охвата</a:t>
            </a:r>
            <a:endParaRPr sz="1150" b="0">
              <a:solidFill>
                <a:srgbClr val="475569"/>
              </a:solidFill>
              <a:latin typeface="Arial" panose="020B0604020202090204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5577840" y="3063240"/>
            <a:ext cx="438912" cy="438912"/>
          </a:xfrm>
          <a:prstGeom prst="chevron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475569"/>
                </a:solidFill>
                <a:latin typeface="Arial" panose="020B0604020202090204"/>
              </a:rPr>
              <a:t>Слайд 10</a:t>
            </a:r>
            <a:endParaRPr sz="800">
              <a:solidFill>
                <a:srgbClr val="475569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 panose="020B0604020202090204"/>
              </a:rPr>
              <a:t>Выводы</a:t>
            </a:r>
            <a:endParaRPr sz="26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37844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72768"/>
            <a:ext cx="9921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rial" panose="020B0604020202090204"/>
              </a:rPr>
              <a:t>Phase-shift измеряет фазовый сдвиг непрерывно модулированного сигнала.</a:t>
            </a:r>
            <a:endParaRPr sz="1320" b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2258568"/>
            <a:ext cx="1037844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14016"/>
            <a:ext cx="9921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rial" panose="020B0604020202090204"/>
              </a:rPr>
              <a:t>Главное преимущество phase-shift — более высокая точность и высокая скорость съёмки.</a:t>
            </a:r>
            <a:endParaRPr sz="1320" b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3099816"/>
            <a:ext cx="1037844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255264"/>
            <a:ext cx="9921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Arial" panose="020B0604020202090204"/>
              </a:rPr>
              <a:t>Главное преимущество ToF — большая дальность и пригодность для крупных объектов.</a:t>
            </a:r>
            <a:endParaRPr sz="1320" b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8680" y="3941064"/>
            <a:ext cx="10378440" cy="530352"/>
          </a:xfrm>
          <a:prstGeom prst="roundRect">
            <a:avLst/>
          </a:prstGeom>
          <a:solidFill>
            <a:srgbClr val="1D4ED8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096512"/>
            <a:ext cx="9921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rial" panose="020B0604020202090204"/>
              </a:rPr>
              <a:t>Если приоритетом является точность на умеренной дистанции, phase-shift обычно предпочтительнее.</a:t>
            </a:r>
            <a:endParaRPr sz="132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4782312"/>
            <a:ext cx="10378440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937760"/>
            <a:ext cx="9921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0F172A"/>
                </a:solidFill>
                <a:latin typeface="Arial" panose="020B0604020202090204"/>
              </a:rPr>
              <a:t>Если приоритетом является дальность, универсальнее выбирать ToF.</a:t>
            </a:r>
            <a:endParaRPr sz="1320" b="1">
              <a:solidFill>
                <a:srgbClr val="0F172A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79" y="61996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FDBFE"/>
                </a:solidFill>
                <a:latin typeface="Arial" panose="020B0604020202090204"/>
              </a:rPr>
              <a:t>Спасибо за внимание</a:t>
            </a:r>
            <a:endParaRPr sz="1300" b="0">
              <a:solidFill>
                <a:srgbClr val="BFDBFE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35640" y="640080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rial" panose="020B0604020202090204"/>
              </a:rPr>
              <a:t>Слайд 11</a:t>
            </a:r>
            <a:endParaRPr sz="80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5164</Words>
  <Application>WPS 表格</Application>
  <PresentationFormat>On-screen Show (4:3)</PresentationFormat>
  <Paragraphs>225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Arial</vt:lpstr>
      <vt:lpstr>SimSun</vt:lpstr>
      <vt:lpstr>Calibri</vt:lpstr>
      <vt:lpstr>Helvetica Neue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卍</cp:lastModifiedBy>
  <cp:revision>3</cp:revision>
  <dcterms:created xsi:type="dcterms:W3CDTF">2026-09-22T17:35:22Z</dcterms:created>
  <dcterms:modified xsi:type="dcterms:W3CDTF">2026-09-22T17:35:22Z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D249697F969995195ABCB26A26E8AEAD_43</vt:lpwstr>
  </property>
  <property fmtid="{D5CDD505-2E9C-101B-9397-08002B2CF9AE}" pid="3" name="KSOProductBuildVer">
    <vt:lpwstr>2052-12.1.23540.23540</vt:lpwstr>
  </property>
</Properties>
</file>